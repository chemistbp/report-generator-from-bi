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5"/>
    <p:sldMasterId id="2147483787" r:id="rId6"/>
  </p:sldMasterIdLst>
  <p:notesMasterIdLst>
    <p:notesMasterId r:id="rId28"/>
  </p:notesMasterIdLst>
  <p:sldIdLst>
    <p:sldId id="3340" r:id="rId7"/>
    <p:sldId id="2147481597" r:id="rId8"/>
    <p:sldId id="2147481598" r:id="rId9"/>
    <p:sldId id="2147481591" r:id="rId10"/>
    <p:sldId id="18457" r:id="rId11"/>
    <p:sldId id="2147481601" r:id="rId12"/>
    <p:sldId id="18447" r:id="rId13"/>
    <p:sldId id="2147481600" r:id="rId14"/>
    <p:sldId id="2147481599" r:id="rId15"/>
    <p:sldId id="2147481593" r:id="rId16"/>
    <p:sldId id="18339" r:id="rId17"/>
    <p:sldId id="18442" r:id="rId18"/>
    <p:sldId id="18417" r:id="rId19"/>
    <p:sldId id="18450" r:id="rId20"/>
    <p:sldId id="18352" r:id="rId21"/>
    <p:sldId id="2147481594" r:id="rId22"/>
    <p:sldId id="2147481595" r:id="rId23"/>
    <p:sldId id="2147481604" r:id="rId24"/>
    <p:sldId id="2147481605" r:id="rId25"/>
    <p:sldId id="18335" r:id="rId26"/>
    <p:sldId id="266" r:id="rId27"/>
  </p:sldIdLst>
  <p:sldSz cx="9144000" cy="5143500" type="screen16x9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90" userDrawn="1">
          <p15:clr>
            <a:srgbClr val="A4A3A4"/>
          </p15:clr>
        </p15:guide>
        <p15:guide id="5" pos="5530" userDrawn="1">
          <p15:clr>
            <a:srgbClr val="A4A3A4"/>
          </p15:clr>
        </p15:guide>
        <p15:guide id="6" orient="horz" pos="797" userDrawn="1">
          <p15:clr>
            <a:srgbClr val="A4A3A4"/>
          </p15:clr>
        </p15:guide>
        <p15:guide id="7" orient="horz" pos="1801" userDrawn="1">
          <p15:clr>
            <a:srgbClr val="A4A3A4"/>
          </p15:clr>
        </p15:guide>
        <p15:guide id="8" orient="horz" pos="894" userDrawn="1">
          <p15:clr>
            <a:srgbClr val="A4A3A4"/>
          </p15:clr>
        </p15:guide>
        <p15:guide id="9" pos="2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6" userDrawn="1">
          <p15:clr>
            <a:srgbClr val="A4A3A4"/>
          </p15:clr>
        </p15:guide>
        <p15:guide id="2" pos="2156" userDrawn="1">
          <p15:clr>
            <a:srgbClr val="A4A3A4"/>
          </p15:clr>
        </p15:guide>
        <p15:guide id="3" orient="horz" pos="3127" userDrawn="1">
          <p15:clr>
            <a:srgbClr val="A4A3A4"/>
          </p15:clr>
        </p15:guide>
        <p15:guide id="4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tilisateur" initials="u" lastIdx="1" clrIdx="0">
    <p:extLst>
      <p:ext uri="{19B8F6BF-5375-455C-9EA6-DF929625EA0E}">
        <p15:presenceInfo xmlns:p15="http://schemas.microsoft.com/office/powerpoint/2012/main" userId="S-1-5-21-1004336348-1580436667-839522115-4162" providerId="AD"/>
      </p:ext>
    </p:extLst>
  </p:cmAuthor>
  <p:cmAuthor id="2" name="ROSTOVTSEVA Yana RUSSIA" initials="RYR" lastIdx="1" clrIdx="1">
    <p:extLst>
      <p:ext uri="{19B8F6BF-5375-455C-9EA6-DF929625EA0E}">
        <p15:presenceInfo xmlns:p15="http://schemas.microsoft.com/office/powerpoint/2012/main" userId="S::yana.rostovtseva@servier.com::0f735973-9379-4869-9cb4-cdcd5c861ad9" providerId="AD"/>
      </p:ext>
    </p:extLst>
  </p:cmAuthor>
  <p:cmAuthor id="3" name="BIRUKOV Andrey Commercial RUSSIA" initials="BACR" lastIdx="1" clrIdx="2">
    <p:extLst>
      <p:ext uri="{19B8F6BF-5375-455C-9EA6-DF929625EA0E}">
        <p15:presenceInfo xmlns:p15="http://schemas.microsoft.com/office/powerpoint/2012/main" userId="S::andrey.birukov@servier.com::3605deb4-3d31-4487-af94-f4996de5403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6E6E6"/>
    <a:srgbClr val="F0F0F0"/>
    <a:srgbClr val="312F30"/>
    <a:srgbClr val="4D4D4D"/>
    <a:srgbClr val="F6F6F6"/>
    <a:srgbClr val="EF6F23"/>
    <a:srgbClr val="686868"/>
    <a:srgbClr val="00558B"/>
    <a:srgbClr val="48B7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84019" autoAdjust="0"/>
  </p:normalViewPr>
  <p:slideViewPr>
    <p:cSldViewPr>
      <p:cViewPr>
        <p:scale>
          <a:sx n="120" d="100"/>
          <a:sy n="120" d="100"/>
        </p:scale>
        <p:origin x="1332" y="144"/>
      </p:cViewPr>
      <p:guideLst>
        <p:guide orient="horz" pos="1620"/>
        <p:guide pos="2880"/>
        <p:guide orient="horz" pos="2890"/>
        <p:guide pos="5530"/>
        <p:guide orient="horz" pos="797"/>
        <p:guide orient="horz" pos="1801"/>
        <p:guide orient="horz" pos="894"/>
        <p:guide pos="2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2792" y="40"/>
      </p:cViewPr>
      <p:guideLst>
        <p:guide orient="horz" pos="2876"/>
        <p:guide pos="2156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r">
              <a:defRPr sz="1200"/>
            </a:lvl1pPr>
          </a:lstStyle>
          <a:p>
            <a:fld id="{2E84A897-29A9-42B4-88AB-63A85924FDEE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4" tIns="45647" rIns="91294" bIns="45647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294" tIns="45647" rIns="91294" bIns="45647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r">
              <a:defRPr sz="1200"/>
            </a:lvl1pPr>
          </a:lstStyle>
          <a:p>
            <a:fld id="{7266F1CE-7EB7-49D4-BAA3-4722FEDEE79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58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021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0784-074D-AF11-5AC8-91EF7522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F4F97F-4EA6-98F6-1DFE-AA07875C3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D640BC-9AA2-F8A8-2BE6-772C6C0FC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F6B3D2-6C25-7E9D-14C2-92641D4C9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6F1CE-7EB7-49D4-BAA3-4722FEDEE79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38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Формат среза может отличатся в зависимости от того что вы хотите показать.</a:t>
            </a:r>
          </a:p>
          <a:p>
            <a:r>
              <a:rPr lang="ru-RU" dirty="0"/>
              <a:t>Классический срез- это последний доступный месяц </a:t>
            </a:r>
            <a:r>
              <a:rPr lang="en-US" dirty="0"/>
              <a:t>CMVD </a:t>
            </a:r>
            <a:r>
              <a:rPr lang="ru-RU" dirty="0"/>
              <a:t>рынка, динамика рынка, динамика позиции </a:t>
            </a:r>
            <a:r>
              <a:rPr lang="ru-RU" dirty="0" err="1"/>
              <a:t>Сервье</a:t>
            </a:r>
            <a:r>
              <a:rPr lang="ru-RU" dirty="0"/>
              <a:t>, динамика основных конкурентов и за счет чего. Необходимо сформулировать вывод по текущей (долговременной ) ситуации и какие действия предлагаете/планируете. Препараты для лечения избыточного веса удаляем из анализа.  </a:t>
            </a:r>
            <a:r>
              <a:rPr lang="ru-RU" b="1" dirty="0"/>
              <a:t>Замена плана термином- МОНИТОРИНГ означает отсутствие плана и предложений, и отказ от поиска решений.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145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Формат среза может отличатся в зависимости от того что вы хотите показать.</a:t>
            </a:r>
          </a:p>
          <a:p>
            <a:r>
              <a:rPr lang="ru-RU" dirty="0"/>
              <a:t>Классический срез- это последний доступный месяц </a:t>
            </a:r>
            <a:r>
              <a:rPr lang="en-US" dirty="0"/>
              <a:t>CMVD </a:t>
            </a:r>
            <a:r>
              <a:rPr lang="ru-RU" dirty="0"/>
              <a:t>рынка, динамика рынка, динамика позиции </a:t>
            </a:r>
            <a:r>
              <a:rPr lang="ru-RU" dirty="0" err="1"/>
              <a:t>Сервье</a:t>
            </a:r>
            <a:r>
              <a:rPr lang="ru-RU" dirty="0"/>
              <a:t>, динамика основных конкурентов и за счет чего. Необходимо сформулировать вывод по текущей (долговременной ) ситуации и какие действия предлагаете/планируете. Препараты для лечения избыточного веса удаляем из анализа.  </a:t>
            </a:r>
            <a:r>
              <a:rPr lang="ru-RU" b="1" dirty="0"/>
              <a:t>Замена плана термином- МОНИТОРИНГ означает отсутствие плана и предложений, и отказ от поиска решений.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683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Итоги </a:t>
            </a:r>
            <a:r>
              <a:rPr lang="ru-RU" b="1" dirty="0"/>
              <a:t>на последний доступный месяц</a:t>
            </a:r>
            <a:r>
              <a:rPr lang="ru-RU" dirty="0"/>
              <a:t>. Динамику по месяцам можно добавить как отдельную вставку (картинку) по прошедшим месяцам текущего </a:t>
            </a:r>
            <a:r>
              <a:rPr lang="ru-RU" dirty="0" err="1"/>
              <a:t>фин</a:t>
            </a:r>
            <a:r>
              <a:rPr lang="ru-RU" dirty="0"/>
              <a:t> года.</a:t>
            </a:r>
          </a:p>
          <a:p>
            <a:r>
              <a:rPr lang="ru-RU" dirty="0"/>
              <a:t>Обязательно </a:t>
            </a:r>
            <a:r>
              <a:rPr lang="ru-RU" dirty="0" err="1"/>
              <a:t>выкл</a:t>
            </a:r>
            <a:r>
              <a:rPr lang="ru-RU" dirty="0"/>
              <a:t> в фильтре по БЮ вкладку «нет информации» те показывает только продукты по которым стоят цели.</a:t>
            </a:r>
          </a:p>
          <a:p>
            <a:r>
              <a:rPr lang="ru-RU" dirty="0"/>
              <a:t>В графике «бабл чарт» выбираем либо БЮ либо препараты в зависимости что хотите показать. </a:t>
            </a:r>
          </a:p>
          <a:p>
            <a:r>
              <a:rPr lang="ru-RU" b="1" dirty="0"/>
              <a:t>В комментариях минимум описания, максимум выводы и какие шаги планируете</a:t>
            </a:r>
            <a:r>
              <a:rPr lang="en-US" b="1" dirty="0"/>
              <a:t>.</a:t>
            </a:r>
            <a:r>
              <a:rPr lang="ru-RU" b="1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747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Итоги </a:t>
            </a:r>
            <a:r>
              <a:rPr lang="ru-RU" b="1" dirty="0"/>
              <a:t>на последний доступный месяц</a:t>
            </a:r>
            <a:r>
              <a:rPr lang="ru-RU" dirty="0"/>
              <a:t>. Динамику по месяцам можно добавить как отдельную вставку (картинку) по прошедшим месяцам текущего </a:t>
            </a:r>
            <a:r>
              <a:rPr lang="ru-RU" dirty="0" err="1"/>
              <a:t>фин</a:t>
            </a:r>
            <a:r>
              <a:rPr lang="ru-RU" dirty="0"/>
              <a:t> года.</a:t>
            </a:r>
          </a:p>
          <a:p>
            <a:r>
              <a:rPr lang="ru-RU" dirty="0"/>
              <a:t>Обязательно </a:t>
            </a:r>
            <a:r>
              <a:rPr lang="ru-RU" dirty="0" err="1"/>
              <a:t>выкл</a:t>
            </a:r>
            <a:r>
              <a:rPr lang="ru-RU" dirty="0"/>
              <a:t> в фильтре по БЮ вкладку «нет информации» те показывает только продукты по которым стоят цели.</a:t>
            </a:r>
          </a:p>
          <a:p>
            <a:r>
              <a:rPr lang="ru-RU" dirty="0"/>
              <a:t>В графике «бабл чарт» выбираем либо БЮ либо препараты в зависимости что хотите показать. </a:t>
            </a:r>
          </a:p>
          <a:p>
            <a:r>
              <a:rPr lang="ru-RU" b="1" dirty="0"/>
              <a:t>В комментариях минимум описания, максимум выводы и какие шаги планируете</a:t>
            </a:r>
            <a:r>
              <a:rPr lang="en-US" b="1" dirty="0"/>
              <a:t>.</a:t>
            </a:r>
            <a:r>
              <a:rPr lang="ru-RU" b="1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329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9984-9A1A-6B1D-7705-06D1CA12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7BDC87-5921-B1E8-B80B-491197B34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5F387C-A669-49F8-4405-320A287FD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/>
              <a:t>По умолчанию используем данный срез с указанными фильтрами на последний доступный месяц. Если видите необходимость изменить срез то необходимо указать в выводах с каким препаратом что происходит и в связи с чем .</a:t>
            </a:r>
          </a:p>
          <a:p>
            <a:r>
              <a:rPr lang="ru-RU" dirty="0"/>
              <a:t>В выводах минимум описания цифр, максимум выводов по текущей ситуации по конкретным продуктам где есть отставание либо перевыполнение целей. По завершению квартала, полугодия и 9 </a:t>
            </a:r>
            <a:r>
              <a:rPr lang="ru-RU" dirty="0" err="1"/>
              <a:t>мес</a:t>
            </a:r>
            <a:r>
              <a:rPr lang="ru-RU" dirty="0"/>
              <a:t> соответственно делаем выводы по итогам этих периодов </a:t>
            </a:r>
            <a:r>
              <a:rPr lang="ru-RU" b="1" dirty="0"/>
              <a:t>и планируемые шаги команды особенно в случаях отставания от целей!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778770-AC87-7C24-8AF0-F721CBC5F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081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Итоги месяца по партнерам в рублях.</a:t>
            </a:r>
          </a:p>
          <a:p>
            <a:r>
              <a:rPr lang="ru-RU" dirty="0"/>
              <a:t>Минимум описания. Только там где есть экстра события, которые вы можете пояснить. </a:t>
            </a:r>
          </a:p>
          <a:p>
            <a:r>
              <a:rPr lang="ru-RU" b="1" dirty="0"/>
              <a:t>Главное выводы, ближайшие шаги и их цель.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9469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Данные </a:t>
            </a:r>
            <a:r>
              <a:rPr lang="ru-RU" dirty="0" err="1"/>
              <a:t>сл</a:t>
            </a:r>
            <a:r>
              <a:rPr lang="ru-RU" dirty="0"/>
              <a:t> только когда есть значимые изменения и есть понимание с чем они связаны.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30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Данные на начало месяца который завершился и на старте нового месяца.</a:t>
            </a:r>
          </a:p>
          <a:p>
            <a:r>
              <a:rPr lang="ru-RU" dirty="0"/>
              <a:t>Выводы по конкретным </a:t>
            </a:r>
            <a:r>
              <a:rPr lang="en-US" dirty="0"/>
              <a:t>SKU </a:t>
            </a:r>
            <a:r>
              <a:rPr lang="ru-RU" dirty="0"/>
              <a:t>и шаги которые планируете.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492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Данные за последний доступный месяц. (в фильтре последний доступный месяц)</a:t>
            </a:r>
          </a:p>
          <a:p>
            <a:r>
              <a:rPr lang="ru-RU" dirty="0"/>
              <a:t>В первом слайде для отражения динамики по месяцам можно вставлять картинку со столбиками за все прошедшие месяцы текущего </a:t>
            </a:r>
            <a:r>
              <a:rPr lang="ru-RU" dirty="0" err="1"/>
              <a:t>фин</a:t>
            </a:r>
            <a:r>
              <a:rPr lang="ru-RU" dirty="0"/>
              <a:t> года.</a:t>
            </a:r>
          </a:p>
          <a:p>
            <a:r>
              <a:rPr lang="ru-RU" dirty="0"/>
              <a:t>В графике «бабл чарт» данные по динамике и объемам субъектов за последний доступный мес.</a:t>
            </a:r>
          </a:p>
          <a:p>
            <a:r>
              <a:rPr lang="ru-RU" dirty="0"/>
              <a:t>В комментариях аналогично как и другим срезам акцент на выводы и шаги а не описание.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276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Данные </a:t>
            </a:r>
            <a:r>
              <a:rPr lang="ru-RU" b="1" dirty="0"/>
              <a:t>вторичных</a:t>
            </a:r>
            <a:r>
              <a:rPr lang="ru-RU" dirty="0"/>
              <a:t> продаж за каждый завершившийся месяц. (из файла </a:t>
            </a:r>
            <a:r>
              <a:rPr lang="ru-RU" dirty="0" err="1"/>
              <a:t>Окаспар</a:t>
            </a:r>
            <a:r>
              <a:rPr lang="ru-RU" dirty="0"/>
              <a:t> по регионам предварительно внеся туда все данные)</a:t>
            </a:r>
          </a:p>
          <a:p>
            <a:r>
              <a:rPr lang="ru-RU" dirty="0"/>
              <a:t>Первый столбец- это общее количество отгрузок с разделением по каким процедурам они проведены с указанием количества процедур. Например за </a:t>
            </a:r>
            <a:r>
              <a:rPr lang="ru-RU" dirty="0" err="1"/>
              <a:t>мес</a:t>
            </a:r>
            <a:r>
              <a:rPr lang="ru-RU" dirty="0"/>
              <a:t> было проведено 5 отгрузок по аукционам, 4 по котировкам и </a:t>
            </a:r>
            <a:r>
              <a:rPr lang="ru-RU" dirty="0" err="1"/>
              <a:t>тд</a:t>
            </a:r>
            <a:r>
              <a:rPr lang="ru-RU" dirty="0"/>
              <a:t>. (упаковки здесь не указываются. Только процедуры)</a:t>
            </a:r>
          </a:p>
          <a:p>
            <a:r>
              <a:rPr lang="ru-RU" dirty="0"/>
              <a:t>Второй столбец это количество ЛПУ в которые они проведены. </a:t>
            </a:r>
          </a:p>
          <a:p>
            <a:r>
              <a:rPr lang="ru-RU" dirty="0"/>
              <a:t>Пирог по объему поставок в </a:t>
            </a:r>
            <a:r>
              <a:rPr lang="ru-RU" dirty="0" err="1"/>
              <a:t>уп</a:t>
            </a:r>
            <a:r>
              <a:rPr lang="ru-RU" dirty="0"/>
              <a:t> по каждому виду процедур включая «быстрые»</a:t>
            </a:r>
          </a:p>
          <a:p>
            <a:r>
              <a:rPr lang="ru-RU" dirty="0"/>
              <a:t>В заключении итоги месяца и на </a:t>
            </a:r>
            <a:r>
              <a:rPr lang="en-US" dirty="0"/>
              <a:t>YTD. </a:t>
            </a:r>
            <a:r>
              <a:rPr lang="ru-RU" dirty="0"/>
              <a:t>Что получилось что нет. Какие шаги планируются.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413745-A3C2-1C4F-93C2-2EC8E6EB199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5871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C308-8326-BA75-3722-0EB4349E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C402608-9146-597B-3B29-76ECB2212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CA2F41-219B-A90E-0154-4D493CDF7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Данные за последний доступный месяц. (в фильтре последний доступный месяц)</a:t>
            </a:r>
          </a:p>
          <a:p>
            <a:r>
              <a:rPr lang="ru-RU" dirty="0"/>
              <a:t>В первом слайде для отражения динамики по месяцам можно вставлять картинку со столбиками за все прошедшие месяцы текущего </a:t>
            </a:r>
            <a:r>
              <a:rPr lang="ru-RU" dirty="0" err="1"/>
              <a:t>фин</a:t>
            </a:r>
            <a:r>
              <a:rPr lang="ru-RU" dirty="0"/>
              <a:t> года.</a:t>
            </a:r>
          </a:p>
          <a:p>
            <a:r>
              <a:rPr lang="ru-RU" dirty="0"/>
              <a:t>В графике «бабл чарт» данные по динамике и объемам субъектов за последний доступный мес.</a:t>
            </a:r>
          </a:p>
          <a:p>
            <a:r>
              <a:rPr lang="ru-RU" dirty="0"/>
              <a:t>В комментариях аналогично как и другим срезам акцент на выводы и шаги а не описание.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190442-1691-C772-4369-9A1193604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549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E943B-81F1-4768-F331-D63375D1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71CA53A-3F5A-A58E-A82D-AE22BA45C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889D479-825F-7D92-B6BD-8FB3BA1DB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Данные </a:t>
            </a:r>
            <a:r>
              <a:rPr lang="ru-RU" b="1" dirty="0"/>
              <a:t>вторичных</a:t>
            </a:r>
            <a:r>
              <a:rPr lang="ru-RU" dirty="0"/>
              <a:t> продаж за каждый завершившийся месяц. (из файла </a:t>
            </a:r>
            <a:r>
              <a:rPr lang="ru-RU" dirty="0" err="1"/>
              <a:t>Онивайд</a:t>
            </a:r>
            <a:r>
              <a:rPr lang="ru-RU" dirty="0"/>
              <a:t> по регионам предварительно внеся туда все данные)</a:t>
            </a:r>
          </a:p>
          <a:p>
            <a:r>
              <a:rPr lang="ru-RU" dirty="0"/>
              <a:t>Первый столбец- это общее количество отгрузок с разделением по каким процедурам они проведены с указанием количества процедур. Например за </a:t>
            </a:r>
            <a:r>
              <a:rPr lang="ru-RU" dirty="0" err="1"/>
              <a:t>мес</a:t>
            </a:r>
            <a:r>
              <a:rPr lang="ru-RU" dirty="0"/>
              <a:t> было проведено 5 отгрузок по аукционам, 4 по котировкам и </a:t>
            </a:r>
            <a:r>
              <a:rPr lang="ru-RU" dirty="0" err="1"/>
              <a:t>тд</a:t>
            </a:r>
            <a:r>
              <a:rPr lang="ru-RU" dirty="0"/>
              <a:t>. (упаковки здесь не указываются. Только процедуры)</a:t>
            </a:r>
          </a:p>
          <a:p>
            <a:r>
              <a:rPr lang="ru-RU" dirty="0"/>
              <a:t>Второй столбец это количество ЛПУ в которые они проведены. </a:t>
            </a:r>
          </a:p>
          <a:p>
            <a:r>
              <a:rPr lang="ru-RU" dirty="0"/>
              <a:t>Пирог по объему поставок в </a:t>
            </a:r>
            <a:r>
              <a:rPr lang="ru-RU" dirty="0" err="1"/>
              <a:t>уп</a:t>
            </a:r>
            <a:r>
              <a:rPr lang="ru-RU" dirty="0"/>
              <a:t> по каждому виду процедур включая «быстрые»</a:t>
            </a:r>
          </a:p>
          <a:p>
            <a:r>
              <a:rPr lang="ru-RU" dirty="0"/>
              <a:t>В заключении итоги месяца и на </a:t>
            </a:r>
            <a:r>
              <a:rPr lang="en-US" dirty="0"/>
              <a:t>YTD. </a:t>
            </a:r>
            <a:r>
              <a:rPr lang="ru-RU" dirty="0"/>
              <a:t>Что получилось что нет. Какие шаги планируются.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341168-D1F8-7085-F627-FEC371943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413745-A3C2-1C4F-93C2-2EC8E6EB199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870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C308-8326-BA75-3722-0EB4349E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C402608-9146-597B-3B29-76ECB2212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CA2F41-219B-A90E-0154-4D493CDF7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Данные за последний доступный месяц. (в фильтре последний доступный месяц)</a:t>
            </a:r>
          </a:p>
          <a:p>
            <a:r>
              <a:rPr lang="ru-RU" dirty="0"/>
              <a:t>В первом слайде для отражения динамики по месяцам можно вставлять картинку со столбиками за все прошедшие месяцы текущего </a:t>
            </a:r>
            <a:r>
              <a:rPr lang="ru-RU" dirty="0" err="1"/>
              <a:t>фин</a:t>
            </a:r>
            <a:r>
              <a:rPr lang="ru-RU" dirty="0"/>
              <a:t> года.</a:t>
            </a:r>
          </a:p>
          <a:p>
            <a:r>
              <a:rPr lang="ru-RU" dirty="0"/>
              <a:t>В графике «бабл чарт» данные по динамике и объемам субъектов за последний доступный мес.</a:t>
            </a:r>
          </a:p>
          <a:p>
            <a:r>
              <a:rPr lang="ru-RU" dirty="0"/>
              <a:t>В комментариях аналогично как и другим срезам акцент на выводы и шаги а не описание.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190442-1691-C772-4369-9A1193604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705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C308-8326-BA75-3722-0EB4349E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C402608-9146-597B-3B29-76ECB2212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CA2F41-219B-A90E-0154-4D493CDF7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Данные за последний доступный месяц. (в фильтре последний доступный месяц)</a:t>
            </a:r>
          </a:p>
          <a:p>
            <a:r>
              <a:rPr lang="ru-RU" dirty="0"/>
              <a:t>В первом слайде для отражения динамики по месяцам можно вставлять картинку со столбиками за все прошедшие месяцы текущего </a:t>
            </a:r>
            <a:r>
              <a:rPr lang="ru-RU" dirty="0" err="1"/>
              <a:t>фин</a:t>
            </a:r>
            <a:r>
              <a:rPr lang="ru-RU" dirty="0"/>
              <a:t> года.</a:t>
            </a:r>
          </a:p>
          <a:p>
            <a:r>
              <a:rPr lang="ru-RU" dirty="0"/>
              <a:t>В графике «бабл чарт» данные по динамике и объемам субъектов за последний доступный мес.</a:t>
            </a:r>
          </a:p>
          <a:p>
            <a:r>
              <a:rPr lang="ru-RU" dirty="0"/>
              <a:t>В комментариях аналогично как и другим срезам акцент на выводы и шаги а не описание.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190442-1691-C772-4369-9A1193604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3861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Пока нет отчетов в </a:t>
            </a:r>
            <a:r>
              <a:rPr lang="en-US" dirty="0"/>
              <a:t>PBI</a:t>
            </a:r>
            <a:r>
              <a:rPr lang="ru-RU" dirty="0"/>
              <a:t> указать из Пчелы:</a:t>
            </a:r>
          </a:p>
          <a:p>
            <a:pPr marL="228600" indent="-228600">
              <a:buAutoNum type="arabicPeriod"/>
            </a:pPr>
            <a:r>
              <a:rPr lang="ru-RU" dirty="0"/>
              <a:t>Общее количество визитов</a:t>
            </a:r>
          </a:p>
          <a:p>
            <a:pPr marL="228600" indent="-228600">
              <a:buAutoNum type="arabicPeriod"/>
            </a:pPr>
            <a:r>
              <a:rPr lang="ru-RU" dirty="0"/>
              <a:t>Охват партнеров по категориям в % за прошедший месяц</a:t>
            </a:r>
          </a:p>
          <a:p>
            <a:pPr marL="228600" indent="-228600">
              <a:buAutoNum type="arabicPeriod"/>
            </a:pPr>
            <a:r>
              <a:rPr lang="ru-RU" dirty="0"/>
              <a:t>Количество презентаций и по каким продуктам. </a:t>
            </a:r>
          </a:p>
          <a:p>
            <a:pPr marL="228600" indent="-228600">
              <a:buAutoNum type="arabicPeriod"/>
            </a:pPr>
            <a:r>
              <a:rPr lang="ru-RU" dirty="0"/>
              <a:t>Количество рабочих дней отработанных за месяц и % от рабочих дней в данном месяце.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6F1CE-7EB7-49D4-BAA3-4722FEDEE790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77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7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43B9F1B-7F6A-DB49-8DA0-664B2686EFE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184DD8-EFD8-C44D-B9A2-96E5FF58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6306" y="4638675"/>
            <a:ext cx="2057400" cy="160735"/>
          </a:xfrm>
          <a:prstGeom prst="rect">
            <a:avLst/>
          </a:prstGeom>
        </p:spPr>
        <p:txBody>
          <a:bodyPr lIns="0" tIns="0" rIns="0" bIns="0"/>
          <a:lstStyle>
            <a:lvl1pPr>
              <a:defRPr sz="975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1ADDB57C-F52B-5B43-B01A-103D54AD81BC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EAD40F06-6FAD-B64D-BF71-4E09BBE558FA}"/>
              </a:ext>
            </a:extLst>
          </p:cNvPr>
          <p:cNvSpPr/>
          <p:nvPr userDrawn="1"/>
        </p:nvSpPr>
        <p:spPr>
          <a:xfrm>
            <a:off x="919163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82B7A1-43C6-F64F-9A0B-BD0023BAC0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9163" y="727498"/>
            <a:ext cx="7756922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E761C-7C24-B743-8E80-DCD981CC09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6" y="2854118"/>
            <a:ext cx="7756923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8" name="Рисунок 7" descr="Изображение выглядит как текст, коллекция картинок&#10;&#10;Автоматически созданное описание">
            <a:extLst>
              <a:ext uri="{FF2B5EF4-FFF2-40B4-BE49-F238E27FC236}">
                <a16:creationId xmlns:a16="http://schemas.microsoft.com/office/drawing/2014/main" id="{D93253BB-37A8-4D90-A795-1705F6809F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2011" y="4231006"/>
            <a:ext cx="2116109" cy="65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01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184DD8-EFD8-C44D-B9A2-96E5FF58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245" y="4638675"/>
            <a:ext cx="2057400" cy="160735"/>
          </a:xfrm>
          <a:prstGeom prst="rect">
            <a:avLst/>
          </a:prstGeom>
        </p:spPr>
        <p:txBody>
          <a:bodyPr lIns="0" tIns="0" rIns="0" bIns="0"/>
          <a:lstStyle>
            <a:lvl1pPr>
              <a:defRPr sz="975"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D9A5D03F-310E-B640-BCE4-49E71E50EE57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EAD40F06-6FAD-B64D-BF71-4E09BBE558FA}"/>
              </a:ext>
            </a:extLst>
          </p:cNvPr>
          <p:cNvSpPr/>
          <p:nvPr userDrawn="1"/>
        </p:nvSpPr>
        <p:spPr>
          <a:xfrm>
            <a:off x="926306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82B7A1-43C6-F64F-9A0B-BD0023BAC0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6" y="698923"/>
            <a:ext cx="7749779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E761C-7C24-B743-8E80-DCD981CC09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6" y="2854118"/>
            <a:ext cx="7749779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FC2D67-92CD-477D-8136-666A8AB44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06552" y="4231343"/>
            <a:ext cx="2145983" cy="6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9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05F5FEE-F61E-574A-B893-0E549E4CD96A}"/>
              </a:ext>
            </a:extLst>
          </p:cNvPr>
          <p:cNvSpPr/>
          <p:nvPr userDrawn="1"/>
        </p:nvSpPr>
        <p:spPr>
          <a:xfrm>
            <a:off x="0" y="1"/>
            <a:ext cx="3095284" cy="514349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9EACE8BA-3FE1-EE48-81E1-7E7B8DDE5C3F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095283" y="0"/>
            <a:ext cx="6048718" cy="514350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 err="1"/>
              <a:t>visual</a:t>
            </a:r>
            <a:endParaRPr lang="fr-FR" dirty="0"/>
          </a:p>
        </p:txBody>
      </p:sp>
      <p:sp>
        <p:nvSpPr>
          <p:cNvPr id="40" name="Espace réservé de la date 3">
            <a:extLst>
              <a:ext uri="{FF2B5EF4-FFF2-40B4-BE49-F238E27FC236}">
                <a16:creationId xmlns:a16="http://schemas.microsoft.com/office/drawing/2014/main" id="{0AE4A73D-6541-9C41-969E-9D9E6736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0726" y="4638675"/>
            <a:ext cx="2057400" cy="160735"/>
          </a:xfrm>
          <a:prstGeom prst="rect">
            <a:avLst/>
          </a:prstGeom>
        </p:spPr>
        <p:txBody>
          <a:bodyPr lIns="0" tIns="0" rIns="0" bIns="0"/>
          <a:lstStyle>
            <a:lvl1pPr>
              <a:defRPr sz="975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74B1588B-B492-A44B-852C-52B76DA9C505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1382887C-986A-5C47-9F28-BACBE89668CB}"/>
              </a:ext>
            </a:extLst>
          </p:cNvPr>
          <p:cNvSpPr/>
          <p:nvPr userDrawn="1"/>
        </p:nvSpPr>
        <p:spPr>
          <a:xfrm>
            <a:off x="926307" y="1542563"/>
            <a:ext cx="2168977" cy="2553377"/>
          </a:xfrm>
          <a:custGeom>
            <a:avLst/>
            <a:gdLst>
              <a:gd name="connsiteX0" fmla="*/ 2891969 w 2891969"/>
              <a:gd name="connsiteY0" fmla="*/ 0 h 3404503"/>
              <a:gd name="connsiteX1" fmla="*/ 2891969 w 2891969"/>
              <a:gd name="connsiteY1" fmla="*/ 2622287 h 3404503"/>
              <a:gd name="connsiteX2" fmla="*/ 2665964 w 2891969"/>
              <a:gd name="connsiteY2" fmla="*/ 2752237 h 3404503"/>
              <a:gd name="connsiteX3" fmla="*/ 89969 w 2891969"/>
              <a:gd name="connsiteY3" fmla="*/ 3404503 h 3404503"/>
              <a:gd name="connsiteX4" fmla="*/ 0 w 2891969"/>
              <a:gd name="connsiteY4" fmla="*/ 3402228 h 3404503"/>
              <a:gd name="connsiteX5" fmla="*/ 0 w 2891969"/>
              <a:gd name="connsiteY5" fmla="*/ 1443291 h 3404503"/>
              <a:gd name="connsiteX6" fmla="*/ 89970 w 2891969"/>
              <a:gd name="connsiteY6" fmla="*/ 1445566 h 3404503"/>
              <a:gd name="connsiteX7" fmla="*/ 2748554 w 2891969"/>
              <a:gd name="connsiteY7" fmla="*/ 191787 h 3404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1969" h="3404503">
                <a:moveTo>
                  <a:pt x="2891969" y="0"/>
                </a:moveTo>
                <a:lnTo>
                  <a:pt x="2891969" y="2622287"/>
                </a:lnTo>
                <a:lnTo>
                  <a:pt x="2665964" y="2752237"/>
                </a:lnTo>
                <a:cubicBezTo>
                  <a:pt x="1900215" y="3168217"/>
                  <a:pt x="1022686" y="3404503"/>
                  <a:pt x="89969" y="3404503"/>
                </a:cubicBezTo>
                <a:lnTo>
                  <a:pt x="0" y="3402228"/>
                </a:lnTo>
                <a:lnTo>
                  <a:pt x="0" y="1443291"/>
                </a:lnTo>
                <a:lnTo>
                  <a:pt x="89970" y="1445566"/>
                </a:lnTo>
                <a:cubicBezTo>
                  <a:pt x="1160297" y="1445566"/>
                  <a:pt x="2116630" y="957501"/>
                  <a:pt x="2748554" y="19178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 dirty="0"/>
          </a:p>
        </p:txBody>
      </p:sp>
      <p:sp>
        <p:nvSpPr>
          <p:cNvPr id="20" name="Forme libre 19">
            <a:extLst>
              <a:ext uri="{FF2B5EF4-FFF2-40B4-BE49-F238E27FC236}">
                <a16:creationId xmlns:a16="http://schemas.microsoft.com/office/drawing/2014/main" id="{E7F24AA1-A3C6-4941-8250-E97804125718}"/>
              </a:ext>
            </a:extLst>
          </p:cNvPr>
          <p:cNvSpPr/>
          <p:nvPr userDrawn="1"/>
        </p:nvSpPr>
        <p:spPr>
          <a:xfrm>
            <a:off x="3095282" y="2"/>
            <a:ext cx="1951701" cy="3509277"/>
          </a:xfrm>
          <a:custGeom>
            <a:avLst/>
            <a:gdLst>
              <a:gd name="connsiteX0" fmla="*/ 641890 w 2602268"/>
              <a:gd name="connsiteY0" fmla="*/ 0 h 4679036"/>
              <a:gd name="connsiteX1" fmla="*/ 2600827 w 2602268"/>
              <a:gd name="connsiteY1" fmla="*/ 0 h 4679036"/>
              <a:gd name="connsiteX2" fmla="*/ 2602268 w 2602268"/>
              <a:gd name="connsiteY2" fmla="*/ 56984 h 4679036"/>
              <a:gd name="connsiteX3" fmla="*/ 310 w 2602268"/>
              <a:gd name="connsiteY3" fmla="*/ 4678857 h 4679036"/>
              <a:gd name="connsiteX4" fmla="*/ 0 w 2602268"/>
              <a:gd name="connsiteY4" fmla="*/ 4679036 h 4679036"/>
              <a:gd name="connsiteX5" fmla="*/ 0 w 2602268"/>
              <a:gd name="connsiteY5" fmla="*/ 2056749 h 4679036"/>
              <a:gd name="connsiteX6" fmla="*/ 54923 w 2602268"/>
              <a:gd name="connsiteY6" fmla="*/ 1983301 h 4679036"/>
              <a:gd name="connsiteX7" fmla="*/ 643331 w 2602268"/>
              <a:gd name="connsiteY7" fmla="*/ 56985 h 4679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2268" h="4679036">
                <a:moveTo>
                  <a:pt x="641890" y="0"/>
                </a:moveTo>
                <a:lnTo>
                  <a:pt x="2600827" y="0"/>
                </a:lnTo>
                <a:lnTo>
                  <a:pt x="2602268" y="56984"/>
                </a:lnTo>
                <a:cubicBezTo>
                  <a:pt x="2602268" y="2015690"/>
                  <a:pt x="1560245" y="3731018"/>
                  <a:pt x="310" y="4678857"/>
                </a:cubicBezTo>
                <a:lnTo>
                  <a:pt x="0" y="4679036"/>
                </a:lnTo>
                <a:lnTo>
                  <a:pt x="0" y="2056749"/>
                </a:lnTo>
                <a:lnTo>
                  <a:pt x="54923" y="1983301"/>
                </a:lnTo>
                <a:cubicBezTo>
                  <a:pt x="426414" y="1433423"/>
                  <a:pt x="643331" y="770536"/>
                  <a:pt x="643331" y="5698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 dirty="0"/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1B0E6927-DA7F-9D48-AD2D-DDB4F157F0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756922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E761C-7C24-B743-8E80-DCD981CC09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749778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2358E7-F798-4D82-A196-5B8F501B7D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06552" y="4231343"/>
            <a:ext cx="2145983" cy="6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9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47617FB2-40AE-FB40-8C64-E29C05BF569F}"/>
              </a:ext>
            </a:extLst>
          </p:cNvPr>
          <p:cNvSpPr/>
          <p:nvPr userDrawn="1"/>
        </p:nvSpPr>
        <p:spPr>
          <a:xfrm>
            <a:off x="926306" y="1542559"/>
            <a:ext cx="2168979" cy="2553381"/>
          </a:xfrm>
          <a:custGeom>
            <a:avLst/>
            <a:gdLst>
              <a:gd name="connsiteX0" fmla="*/ 2891972 w 2891972"/>
              <a:gd name="connsiteY0" fmla="*/ 0 h 3404508"/>
              <a:gd name="connsiteX1" fmla="*/ 2891972 w 2891972"/>
              <a:gd name="connsiteY1" fmla="*/ 2622290 h 3404508"/>
              <a:gd name="connsiteX2" fmla="*/ 2665964 w 2891972"/>
              <a:gd name="connsiteY2" fmla="*/ 2752242 h 3404508"/>
              <a:gd name="connsiteX3" fmla="*/ 89969 w 2891972"/>
              <a:gd name="connsiteY3" fmla="*/ 3404508 h 3404508"/>
              <a:gd name="connsiteX4" fmla="*/ 0 w 2891972"/>
              <a:gd name="connsiteY4" fmla="*/ 3402233 h 3404508"/>
              <a:gd name="connsiteX5" fmla="*/ 0 w 2891972"/>
              <a:gd name="connsiteY5" fmla="*/ 1443296 h 3404508"/>
              <a:gd name="connsiteX6" fmla="*/ 89970 w 2891972"/>
              <a:gd name="connsiteY6" fmla="*/ 1445571 h 3404508"/>
              <a:gd name="connsiteX7" fmla="*/ 2748554 w 2891972"/>
              <a:gd name="connsiteY7" fmla="*/ 191792 h 3404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1972" h="3404508">
                <a:moveTo>
                  <a:pt x="2891972" y="0"/>
                </a:moveTo>
                <a:lnTo>
                  <a:pt x="2891972" y="2622290"/>
                </a:lnTo>
                <a:lnTo>
                  <a:pt x="2665964" y="2752242"/>
                </a:lnTo>
                <a:cubicBezTo>
                  <a:pt x="1900215" y="3168222"/>
                  <a:pt x="1022686" y="3404508"/>
                  <a:pt x="89969" y="3404508"/>
                </a:cubicBezTo>
                <a:lnTo>
                  <a:pt x="0" y="3402233"/>
                </a:lnTo>
                <a:lnTo>
                  <a:pt x="0" y="1443296"/>
                </a:lnTo>
                <a:lnTo>
                  <a:pt x="89970" y="1445571"/>
                </a:lnTo>
                <a:cubicBezTo>
                  <a:pt x="1160297" y="1445571"/>
                  <a:pt x="2116630" y="957506"/>
                  <a:pt x="2748554" y="19179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9EACE8BA-3FE1-EE48-81E1-7E7B8DDE5C3F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095286" y="0"/>
            <a:ext cx="6048715" cy="51435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 err="1"/>
              <a:t>visual</a:t>
            </a:r>
            <a:endParaRPr lang="fr-FR" dirty="0"/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6C19AFF0-0A0D-E443-9262-98A60588603C}"/>
              </a:ext>
            </a:extLst>
          </p:cNvPr>
          <p:cNvSpPr/>
          <p:nvPr userDrawn="1"/>
        </p:nvSpPr>
        <p:spPr>
          <a:xfrm>
            <a:off x="3095285" y="1"/>
            <a:ext cx="1951700" cy="3509276"/>
          </a:xfrm>
          <a:custGeom>
            <a:avLst/>
            <a:gdLst>
              <a:gd name="connsiteX0" fmla="*/ 641888 w 2602266"/>
              <a:gd name="connsiteY0" fmla="*/ 0 h 4679034"/>
              <a:gd name="connsiteX1" fmla="*/ 2600825 w 2602266"/>
              <a:gd name="connsiteY1" fmla="*/ 0 h 4679034"/>
              <a:gd name="connsiteX2" fmla="*/ 2602266 w 2602266"/>
              <a:gd name="connsiteY2" fmla="*/ 56984 h 4679034"/>
              <a:gd name="connsiteX3" fmla="*/ 308 w 2602266"/>
              <a:gd name="connsiteY3" fmla="*/ 4678857 h 4679034"/>
              <a:gd name="connsiteX4" fmla="*/ 0 w 2602266"/>
              <a:gd name="connsiteY4" fmla="*/ 4679034 h 4679034"/>
              <a:gd name="connsiteX5" fmla="*/ 0 w 2602266"/>
              <a:gd name="connsiteY5" fmla="*/ 2056746 h 4679034"/>
              <a:gd name="connsiteX6" fmla="*/ 54921 w 2602266"/>
              <a:gd name="connsiteY6" fmla="*/ 1983301 h 4679034"/>
              <a:gd name="connsiteX7" fmla="*/ 643329 w 2602266"/>
              <a:gd name="connsiteY7" fmla="*/ 56985 h 46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2266" h="4679034">
                <a:moveTo>
                  <a:pt x="641888" y="0"/>
                </a:moveTo>
                <a:lnTo>
                  <a:pt x="2600825" y="0"/>
                </a:lnTo>
                <a:lnTo>
                  <a:pt x="2602266" y="56984"/>
                </a:lnTo>
                <a:cubicBezTo>
                  <a:pt x="2602266" y="2015690"/>
                  <a:pt x="1560243" y="3731018"/>
                  <a:pt x="308" y="4678857"/>
                </a:cubicBezTo>
                <a:lnTo>
                  <a:pt x="0" y="4679034"/>
                </a:lnTo>
                <a:lnTo>
                  <a:pt x="0" y="2056746"/>
                </a:lnTo>
                <a:lnTo>
                  <a:pt x="54921" y="1983301"/>
                </a:lnTo>
                <a:cubicBezTo>
                  <a:pt x="426412" y="1433423"/>
                  <a:pt x="643329" y="770536"/>
                  <a:pt x="643329" y="56985"/>
                </a:cubicBezTo>
                <a:close/>
              </a:path>
            </a:pathLst>
          </a:cu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E761C-7C24-B743-8E80-DCD981CC09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749778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sp>
        <p:nvSpPr>
          <p:cNvPr id="40" name="Espace réservé de la date 3">
            <a:extLst>
              <a:ext uri="{FF2B5EF4-FFF2-40B4-BE49-F238E27FC236}">
                <a16:creationId xmlns:a16="http://schemas.microsoft.com/office/drawing/2014/main" id="{0AE4A73D-6541-9C41-969E-9D9E6736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6306" y="4638675"/>
            <a:ext cx="2057400" cy="160735"/>
          </a:xfrm>
          <a:prstGeom prst="rect">
            <a:avLst/>
          </a:prstGeom>
        </p:spPr>
        <p:txBody>
          <a:bodyPr lIns="0" tIns="0" rIns="0" bIns="0"/>
          <a:lstStyle>
            <a:lvl1pPr>
              <a:defRPr sz="975"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8471A581-D256-9646-9291-024CC6FA483F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F13569A-9038-C549-B946-4CB2B8A638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749778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2B53559-6E45-47A1-9CE6-44D3957C39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06552" y="4231343"/>
            <a:ext cx="2145983" cy="6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6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e libre 10">
            <a:extLst>
              <a:ext uri="{FF2B5EF4-FFF2-40B4-BE49-F238E27FC236}">
                <a16:creationId xmlns:a16="http://schemas.microsoft.com/office/drawing/2014/main" id="{771D75BF-7A6F-BE42-ACAC-003607FCD76F}"/>
              </a:ext>
            </a:extLst>
          </p:cNvPr>
          <p:cNvSpPr/>
          <p:nvPr userDrawn="1"/>
        </p:nvSpPr>
        <p:spPr>
          <a:xfrm>
            <a:off x="926306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B7D4B-25AB-3B40-9FA9-856250EFE26C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/>
              <a:t>Footer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F9B6917-3135-5543-BB21-7EE5160354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856935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746828C2-E0B2-C841-B815-1229645D7E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856935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77DD647-82ED-0748-938D-2AD451547B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4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e libre 10">
            <a:extLst>
              <a:ext uri="{FF2B5EF4-FFF2-40B4-BE49-F238E27FC236}">
                <a16:creationId xmlns:a16="http://schemas.microsoft.com/office/drawing/2014/main" id="{771D75BF-7A6F-BE42-ACAC-003607FCD76F}"/>
              </a:ext>
            </a:extLst>
          </p:cNvPr>
          <p:cNvSpPr/>
          <p:nvPr userDrawn="1"/>
        </p:nvSpPr>
        <p:spPr>
          <a:xfrm>
            <a:off x="926306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B7D4B-25AB-3B40-9FA9-856250EFE26C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/>
              <a:t>Footer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F9B6917-3135-5543-BB21-7EE5160354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749779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746828C2-E0B2-C841-B815-1229645D7E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749779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DCDD809-4840-E741-B8F9-2774066289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CFA2AD-1ABE-4843-AECA-117CE310A314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5FC40DE6-95E0-2843-884F-8246A32520F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3095286" y="0"/>
            <a:ext cx="6048715" cy="514350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/>
              <a:t>Visual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F9A7FA-0440-F44F-8513-5E831B3D54B5}"/>
              </a:ext>
            </a:extLst>
          </p:cNvPr>
          <p:cNvSpPr txBox="1"/>
          <p:nvPr userDrawn="1"/>
        </p:nvSpPr>
        <p:spPr>
          <a:xfrm>
            <a:off x="-2124307" y="2475571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350" dirty="0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EF524757-EECA-4F40-BDFA-B98E2898C5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856935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(Century Gothic 41 pt)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033CB210-9BD8-FE41-814C-A050222892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856935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806E402-E093-7742-9CCD-8110807F13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0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A2599C0-363E-994D-B643-9606FFFDA1E3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1531" y="4709483"/>
            <a:ext cx="3086100" cy="273844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Footer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7993" y="563762"/>
            <a:ext cx="7748092" cy="584001"/>
          </a:xfrm>
        </p:spPr>
        <p:txBody>
          <a:bodyPr/>
          <a:lstStyle/>
          <a:p>
            <a:r>
              <a:rPr lang="fr-FR" dirty="0" err="1"/>
              <a:t>Title</a:t>
            </a:r>
            <a:r>
              <a:rPr lang="fr-FR" dirty="0"/>
              <a:t> slide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(Century Gothic 26 pt)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E7C64767-C696-6640-B64E-6D3399B97BF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531" y="3293077"/>
            <a:ext cx="1392710" cy="6191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200"/>
              </a:lnSpc>
              <a:buNone/>
              <a:defRPr sz="900" b="1" i="0"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6102B2A7-A0D9-C848-9D87-DADBEFCF03BC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732269" y="3293077"/>
            <a:ext cx="1392710" cy="6191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200"/>
              </a:lnSpc>
              <a:buNone/>
              <a:defRPr sz="900" b="1" i="0"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699894D1-3820-D742-901E-E079CA83368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643007" y="3293077"/>
            <a:ext cx="1392710" cy="6191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200"/>
              </a:lnSpc>
              <a:buNone/>
              <a:defRPr sz="900" b="1" i="0"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34" name="Espace réservé du contenu 33">
            <a:extLst>
              <a:ext uri="{FF2B5EF4-FFF2-40B4-BE49-F238E27FC236}">
                <a16:creationId xmlns:a16="http://schemas.microsoft.com/office/drawing/2014/main" id="{2C2B70CE-3608-7644-9E94-C0C730F2264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74607" y="1360864"/>
            <a:ext cx="2669393" cy="2460336"/>
          </a:xfrm>
          <a:custGeom>
            <a:avLst/>
            <a:gdLst>
              <a:gd name="connsiteX0" fmla="*/ 0 w 3559190"/>
              <a:gd name="connsiteY0" fmla="*/ 1640223 h 3280448"/>
              <a:gd name="connsiteX1" fmla="*/ 0 w 3559190"/>
              <a:gd name="connsiteY1" fmla="*/ 1640224 h 3280448"/>
              <a:gd name="connsiteX2" fmla="*/ 0 w 3559190"/>
              <a:gd name="connsiteY2" fmla="*/ 1640224 h 3280448"/>
              <a:gd name="connsiteX3" fmla="*/ 1640224 w 3559190"/>
              <a:gd name="connsiteY3" fmla="*/ 0 h 3280448"/>
              <a:gd name="connsiteX4" fmla="*/ 3559190 w 3559190"/>
              <a:gd name="connsiteY4" fmla="*/ 0 h 3280448"/>
              <a:gd name="connsiteX5" fmla="*/ 3559190 w 3559190"/>
              <a:gd name="connsiteY5" fmla="*/ 3280448 h 3280448"/>
              <a:gd name="connsiteX6" fmla="*/ 1640224 w 3559190"/>
              <a:gd name="connsiteY6" fmla="*/ 3280447 h 3280448"/>
              <a:gd name="connsiteX7" fmla="*/ 8468 w 3559190"/>
              <a:gd name="connsiteY7" fmla="*/ 1807927 h 3280448"/>
              <a:gd name="connsiteX8" fmla="*/ 0 w 3559190"/>
              <a:gd name="connsiteY8" fmla="*/ 1640224 h 3280448"/>
              <a:gd name="connsiteX9" fmla="*/ 8468 w 3559190"/>
              <a:gd name="connsiteY9" fmla="*/ 1472521 h 3280448"/>
              <a:gd name="connsiteX10" fmla="*/ 1640224 w 3559190"/>
              <a:gd name="connsiteY10" fmla="*/ 0 h 32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59190" h="3280448">
                <a:moveTo>
                  <a:pt x="0" y="1640223"/>
                </a:moveTo>
                <a:lnTo>
                  <a:pt x="0" y="1640224"/>
                </a:lnTo>
                <a:lnTo>
                  <a:pt x="0" y="1640224"/>
                </a:lnTo>
                <a:close/>
                <a:moveTo>
                  <a:pt x="1640224" y="0"/>
                </a:moveTo>
                <a:lnTo>
                  <a:pt x="3559190" y="0"/>
                </a:lnTo>
                <a:lnTo>
                  <a:pt x="3559190" y="3280448"/>
                </a:lnTo>
                <a:lnTo>
                  <a:pt x="1640224" y="3280447"/>
                </a:lnTo>
                <a:cubicBezTo>
                  <a:pt x="790970" y="3280447"/>
                  <a:pt x="92464" y="2635020"/>
                  <a:pt x="8468" y="1807927"/>
                </a:cubicBezTo>
                <a:lnTo>
                  <a:pt x="0" y="1640224"/>
                </a:lnTo>
                <a:lnTo>
                  <a:pt x="8468" y="1472521"/>
                </a:lnTo>
                <a:cubicBezTo>
                  <a:pt x="92464" y="645428"/>
                  <a:pt x="790970" y="0"/>
                  <a:pt x="1640224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792000" tIns="0" rIns="0" bIns="0" rtlCol="0" anchor="ctr" anchorCtr="0">
            <a:noAutofit/>
          </a:bodyPr>
          <a:lstStyle>
            <a:lvl1pPr marL="0" indent="0">
              <a:buNone/>
              <a:defRPr lang="fr-FR" sz="1200" b="1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1650"/>
              </a:lnSpc>
            </a:pPr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br>
              <a:rPr lang="fr-FR" dirty="0"/>
            </a:b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br>
              <a:rPr lang="fr-FR" dirty="0"/>
            </a:b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br>
              <a:rPr lang="fr-FR" dirty="0"/>
            </a:br>
            <a:r>
              <a:rPr lang="fr-FR" dirty="0"/>
              <a:t>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br>
              <a:rPr lang="fr-FR" dirty="0"/>
            </a:b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</a:t>
            </a:r>
            <a:br>
              <a:rPr lang="fr-FR" dirty="0"/>
            </a:b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</a:t>
            </a:r>
            <a:br>
              <a:rPr lang="fr-FR" dirty="0"/>
            </a:b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</a:t>
            </a:r>
            <a:br>
              <a:rPr lang="fr-FR" dirty="0"/>
            </a:br>
            <a:r>
              <a:rPr lang="fr-FR" dirty="0"/>
              <a:t>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QSDSDenim</a:t>
            </a:r>
            <a:r>
              <a:rPr lang="fr-FR" dirty="0"/>
              <a:t> ad. </a:t>
            </a:r>
          </a:p>
        </p:txBody>
      </p:sp>
      <p:sp>
        <p:nvSpPr>
          <p:cNvPr id="36" name="Espace réservé du contenu 2">
            <a:extLst>
              <a:ext uri="{FF2B5EF4-FFF2-40B4-BE49-F238E27FC236}">
                <a16:creationId xmlns:a16="http://schemas.microsoft.com/office/drawing/2014/main" id="{B157FC8C-8E72-C444-9A6C-63DAF807B7B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51391" y="2376487"/>
            <a:ext cx="1140371" cy="42909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ts val="1200"/>
              </a:lnSpc>
              <a:buNone/>
              <a:defRPr sz="2625" b="1" i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/>
              <a:t>95%</a:t>
            </a:r>
          </a:p>
        </p:txBody>
      </p:sp>
      <p:sp>
        <p:nvSpPr>
          <p:cNvPr id="38" name="Espace réservé du contenu 2">
            <a:extLst>
              <a:ext uri="{FF2B5EF4-FFF2-40B4-BE49-F238E27FC236}">
                <a16:creationId xmlns:a16="http://schemas.microsoft.com/office/drawing/2014/main" id="{916931DF-E352-2D43-8D9A-777CA70F10CE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862206" y="2376487"/>
            <a:ext cx="1146491" cy="42909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ts val="1200"/>
              </a:lnSpc>
              <a:buNone/>
              <a:defRPr sz="2625" b="1" i="0">
                <a:solidFill>
                  <a:srgbClr val="47BFD9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/>
              <a:t>36%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434E4094-3F52-D44B-96AF-451D714832B4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769236" y="2376487"/>
            <a:ext cx="1146491" cy="42909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ts val="1200"/>
              </a:lnSpc>
              <a:buNone/>
              <a:defRPr sz="2625" b="1" i="0">
                <a:solidFill>
                  <a:srgbClr val="91C461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/>
              <a:t>22%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2CD7FA3-FEB5-CA4A-8367-7E9F071C9E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DACB068-14A3-EC46-8C25-07D15C463242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22" name="Espace réservé pour une image  2">
            <a:extLst>
              <a:ext uri="{FF2B5EF4-FFF2-40B4-BE49-F238E27FC236}">
                <a16:creationId xmlns:a16="http://schemas.microsoft.com/office/drawing/2014/main" id="{92EAFF21-E0B0-CC42-BDF2-D87A09446BD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26307" y="1038886"/>
            <a:ext cx="4950053" cy="352176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/>
              <a:t>Visual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6306" y="563761"/>
            <a:ext cx="7749779" cy="624142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Title</a:t>
            </a:r>
            <a:r>
              <a:rPr lang="fr-FR" dirty="0"/>
              <a:t> slide in one line (Century Gothic 26 pt)</a:t>
            </a:r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887681B2-3BA5-2A4F-996C-13EBF63FE5B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5158260" y="1529448"/>
            <a:ext cx="3985741" cy="632654"/>
          </a:xfrm>
          <a:custGeom>
            <a:avLst/>
            <a:gdLst>
              <a:gd name="connsiteX0" fmla="*/ 0 w 5314321"/>
              <a:gd name="connsiteY0" fmla="*/ 421768 h 843538"/>
              <a:gd name="connsiteX1" fmla="*/ 0 w 5314321"/>
              <a:gd name="connsiteY1" fmla="*/ 421769 h 843538"/>
              <a:gd name="connsiteX2" fmla="*/ 0 w 5314321"/>
              <a:gd name="connsiteY2" fmla="*/ 421769 h 843538"/>
              <a:gd name="connsiteX3" fmla="*/ 421769 w 5314321"/>
              <a:gd name="connsiteY3" fmla="*/ 0 h 843538"/>
              <a:gd name="connsiteX4" fmla="*/ 5314321 w 5314321"/>
              <a:gd name="connsiteY4" fmla="*/ 0 h 843538"/>
              <a:gd name="connsiteX5" fmla="*/ 5314321 w 5314321"/>
              <a:gd name="connsiteY5" fmla="*/ 843538 h 843538"/>
              <a:gd name="connsiteX6" fmla="*/ 421769 w 5314321"/>
              <a:gd name="connsiteY6" fmla="*/ 843537 h 843538"/>
              <a:gd name="connsiteX7" fmla="*/ 8569 w 5314321"/>
              <a:gd name="connsiteY7" fmla="*/ 506769 h 843538"/>
              <a:gd name="connsiteX8" fmla="*/ 0 w 5314321"/>
              <a:gd name="connsiteY8" fmla="*/ 421769 h 843538"/>
              <a:gd name="connsiteX9" fmla="*/ 8569 w 5314321"/>
              <a:gd name="connsiteY9" fmla="*/ 336768 h 843538"/>
              <a:gd name="connsiteX10" fmla="*/ 421769 w 5314321"/>
              <a:gd name="connsiteY10" fmla="*/ 0 h 84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14321" h="843538">
                <a:moveTo>
                  <a:pt x="0" y="421768"/>
                </a:moveTo>
                <a:lnTo>
                  <a:pt x="0" y="421769"/>
                </a:lnTo>
                <a:lnTo>
                  <a:pt x="0" y="421769"/>
                </a:lnTo>
                <a:close/>
                <a:moveTo>
                  <a:pt x="421769" y="0"/>
                </a:moveTo>
                <a:lnTo>
                  <a:pt x="5314321" y="0"/>
                </a:lnTo>
                <a:lnTo>
                  <a:pt x="5314321" y="843538"/>
                </a:lnTo>
                <a:lnTo>
                  <a:pt x="421769" y="843537"/>
                </a:lnTo>
                <a:cubicBezTo>
                  <a:pt x="217950" y="843537"/>
                  <a:pt x="47898" y="698963"/>
                  <a:pt x="8569" y="506769"/>
                </a:cubicBezTo>
                <a:lnTo>
                  <a:pt x="0" y="421769"/>
                </a:lnTo>
                <a:lnTo>
                  <a:pt x="8569" y="336768"/>
                </a:lnTo>
                <a:cubicBezTo>
                  <a:pt x="47898" y="144575"/>
                  <a:pt x="217950" y="0"/>
                  <a:pt x="42176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1007999" anchor="ctr" anchorCtr="0">
            <a:noAutofit/>
          </a:bodyPr>
          <a:lstStyle>
            <a:lvl1pPr marL="0" indent="0" algn="l">
              <a:lnSpc>
                <a:spcPts val="1650"/>
              </a:lnSpc>
              <a:buNone/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33" name="Espace réservé du contenu 32">
            <a:extLst>
              <a:ext uri="{FF2B5EF4-FFF2-40B4-BE49-F238E27FC236}">
                <a16:creationId xmlns:a16="http://schemas.microsoft.com/office/drawing/2014/main" id="{2C1D8664-B20A-A14B-9C50-48C0235CB4F4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5158260" y="2348083"/>
            <a:ext cx="3985741" cy="632654"/>
          </a:xfrm>
          <a:custGeom>
            <a:avLst/>
            <a:gdLst>
              <a:gd name="connsiteX0" fmla="*/ 0 w 5314321"/>
              <a:gd name="connsiteY0" fmla="*/ 421768 h 843538"/>
              <a:gd name="connsiteX1" fmla="*/ 0 w 5314321"/>
              <a:gd name="connsiteY1" fmla="*/ 421769 h 843538"/>
              <a:gd name="connsiteX2" fmla="*/ 0 w 5314321"/>
              <a:gd name="connsiteY2" fmla="*/ 421769 h 843538"/>
              <a:gd name="connsiteX3" fmla="*/ 421769 w 5314321"/>
              <a:gd name="connsiteY3" fmla="*/ 0 h 843538"/>
              <a:gd name="connsiteX4" fmla="*/ 5314321 w 5314321"/>
              <a:gd name="connsiteY4" fmla="*/ 0 h 843538"/>
              <a:gd name="connsiteX5" fmla="*/ 5314321 w 5314321"/>
              <a:gd name="connsiteY5" fmla="*/ 843538 h 843538"/>
              <a:gd name="connsiteX6" fmla="*/ 421769 w 5314321"/>
              <a:gd name="connsiteY6" fmla="*/ 843537 h 843538"/>
              <a:gd name="connsiteX7" fmla="*/ 8569 w 5314321"/>
              <a:gd name="connsiteY7" fmla="*/ 506769 h 843538"/>
              <a:gd name="connsiteX8" fmla="*/ 0 w 5314321"/>
              <a:gd name="connsiteY8" fmla="*/ 421769 h 843538"/>
              <a:gd name="connsiteX9" fmla="*/ 8569 w 5314321"/>
              <a:gd name="connsiteY9" fmla="*/ 336768 h 843538"/>
              <a:gd name="connsiteX10" fmla="*/ 421769 w 5314321"/>
              <a:gd name="connsiteY10" fmla="*/ 0 h 84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14321" h="843538">
                <a:moveTo>
                  <a:pt x="0" y="421768"/>
                </a:moveTo>
                <a:lnTo>
                  <a:pt x="0" y="421769"/>
                </a:lnTo>
                <a:lnTo>
                  <a:pt x="0" y="421769"/>
                </a:lnTo>
                <a:close/>
                <a:moveTo>
                  <a:pt x="421769" y="0"/>
                </a:moveTo>
                <a:lnTo>
                  <a:pt x="5314321" y="0"/>
                </a:lnTo>
                <a:lnTo>
                  <a:pt x="5314321" y="843538"/>
                </a:lnTo>
                <a:lnTo>
                  <a:pt x="421769" y="843537"/>
                </a:lnTo>
                <a:cubicBezTo>
                  <a:pt x="217950" y="843537"/>
                  <a:pt x="47898" y="698963"/>
                  <a:pt x="8569" y="506769"/>
                </a:cubicBezTo>
                <a:lnTo>
                  <a:pt x="0" y="421769"/>
                </a:lnTo>
                <a:lnTo>
                  <a:pt x="8569" y="336768"/>
                </a:lnTo>
                <a:cubicBezTo>
                  <a:pt x="47898" y="144575"/>
                  <a:pt x="217950" y="0"/>
                  <a:pt x="42176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1007999" anchor="ctr" anchorCtr="0">
            <a:noAutofit/>
          </a:bodyPr>
          <a:lstStyle>
            <a:lvl1pPr marL="0" indent="0" algn="l">
              <a:lnSpc>
                <a:spcPts val="1650"/>
              </a:lnSpc>
              <a:buNone/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35" name="Forme libre 34">
            <a:extLst>
              <a:ext uri="{FF2B5EF4-FFF2-40B4-BE49-F238E27FC236}">
                <a16:creationId xmlns:a16="http://schemas.microsoft.com/office/drawing/2014/main" id="{379A959B-30B1-C24E-944E-AF8C8C56DF20}"/>
              </a:ext>
            </a:extLst>
          </p:cNvPr>
          <p:cNvSpPr/>
          <p:nvPr userDrawn="1"/>
        </p:nvSpPr>
        <p:spPr>
          <a:xfrm rot="18900000">
            <a:off x="5406111" y="2547073"/>
            <a:ext cx="234676" cy="234676"/>
          </a:xfrm>
          <a:custGeom>
            <a:avLst/>
            <a:gdLst>
              <a:gd name="connsiteX0" fmla="*/ 2163652 w 2163778"/>
              <a:gd name="connsiteY0" fmla="*/ 0 h 2163778"/>
              <a:gd name="connsiteX1" fmla="*/ 2163652 w 2163778"/>
              <a:gd name="connsiteY1" fmla="*/ 1910396 h 2163778"/>
              <a:gd name="connsiteX2" fmla="*/ 2163778 w 2163778"/>
              <a:gd name="connsiteY2" fmla="*/ 1910396 h 2163778"/>
              <a:gd name="connsiteX3" fmla="*/ 2163778 w 2163778"/>
              <a:gd name="connsiteY3" fmla="*/ 2163652 h 2163778"/>
              <a:gd name="connsiteX4" fmla="*/ 2163652 w 2163778"/>
              <a:gd name="connsiteY4" fmla="*/ 2163652 h 2163778"/>
              <a:gd name="connsiteX5" fmla="*/ 2163652 w 2163778"/>
              <a:gd name="connsiteY5" fmla="*/ 2163778 h 2163778"/>
              <a:gd name="connsiteX6" fmla="*/ 1910396 w 2163778"/>
              <a:gd name="connsiteY6" fmla="*/ 2163778 h 2163778"/>
              <a:gd name="connsiteX7" fmla="*/ 1910396 w 2163778"/>
              <a:gd name="connsiteY7" fmla="*/ 2163652 h 2163778"/>
              <a:gd name="connsiteX8" fmla="*/ 0 w 2163778"/>
              <a:gd name="connsiteY8" fmla="*/ 2163652 h 2163778"/>
              <a:gd name="connsiteX9" fmla="*/ 0 w 2163778"/>
              <a:gd name="connsiteY9" fmla="*/ 1910396 h 2163778"/>
              <a:gd name="connsiteX10" fmla="*/ 1910396 w 2163778"/>
              <a:gd name="connsiteY10" fmla="*/ 1910396 h 2163778"/>
              <a:gd name="connsiteX11" fmla="*/ 1910396 w 2163778"/>
              <a:gd name="connsiteY11" fmla="*/ 0 h 216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63778" h="2163778">
                <a:moveTo>
                  <a:pt x="2163652" y="0"/>
                </a:moveTo>
                <a:lnTo>
                  <a:pt x="2163652" y="1910396"/>
                </a:lnTo>
                <a:lnTo>
                  <a:pt x="2163778" y="1910396"/>
                </a:lnTo>
                <a:lnTo>
                  <a:pt x="2163778" y="2163652"/>
                </a:lnTo>
                <a:lnTo>
                  <a:pt x="2163652" y="2163652"/>
                </a:lnTo>
                <a:lnTo>
                  <a:pt x="2163652" y="2163778"/>
                </a:lnTo>
                <a:lnTo>
                  <a:pt x="1910396" y="2163778"/>
                </a:lnTo>
                <a:lnTo>
                  <a:pt x="1910396" y="2163652"/>
                </a:lnTo>
                <a:lnTo>
                  <a:pt x="0" y="2163652"/>
                </a:lnTo>
                <a:lnTo>
                  <a:pt x="0" y="1910396"/>
                </a:lnTo>
                <a:lnTo>
                  <a:pt x="1910396" y="1910396"/>
                </a:lnTo>
                <a:lnTo>
                  <a:pt x="191039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7" name="Espace réservé du contenu 36">
            <a:extLst>
              <a:ext uri="{FF2B5EF4-FFF2-40B4-BE49-F238E27FC236}">
                <a16:creationId xmlns:a16="http://schemas.microsoft.com/office/drawing/2014/main" id="{4EE9E2AF-CB0A-1C46-AF2B-9F721988A76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5158260" y="3166719"/>
            <a:ext cx="3985741" cy="632654"/>
          </a:xfrm>
          <a:custGeom>
            <a:avLst/>
            <a:gdLst>
              <a:gd name="connsiteX0" fmla="*/ 0 w 5314321"/>
              <a:gd name="connsiteY0" fmla="*/ 421768 h 843538"/>
              <a:gd name="connsiteX1" fmla="*/ 0 w 5314321"/>
              <a:gd name="connsiteY1" fmla="*/ 421769 h 843538"/>
              <a:gd name="connsiteX2" fmla="*/ 0 w 5314321"/>
              <a:gd name="connsiteY2" fmla="*/ 421769 h 843538"/>
              <a:gd name="connsiteX3" fmla="*/ 421769 w 5314321"/>
              <a:gd name="connsiteY3" fmla="*/ 0 h 843538"/>
              <a:gd name="connsiteX4" fmla="*/ 5314321 w 5314321"/>
              <a:gd name="connsiteY4" fmla="*/ 0 h 843538"/>
              <a:gd name="connsiteX5" fmla="*/ 5314321 w 5314321"/>
              <a:gd name="connsiteY5" fmla="*/ 843538 h 843538"/>
              <a:gd name="connsiteX6" fmla="*/ 421769 w 5314321"/>
              <a:gd name="connsiteY6" fmla="*/ 843537 h 843538"/>
              <a:gd name="connsiteX7" fmla="*/ 8569 w 5314321"/>
              <a:gd name="connsiteY7" fmla="*/ 506769 h 843538"/>
              <a:gd name="connsiteX8" fmla="*/ 0 w 5314321"/>
              <a:gd name="connsiteY8" fmla="*/ 421769 h 843538"/>
              <a:gd name="connsiteX9" fmla="*/ 8569 w 5314321"/>
              <a:gd name="connsiteY9" fmla="*/ 336768 h 843538"/>
              <a:gd name="connsiteX10" fmla="*/ 421769 w 5314321"/>
              <a:gd name="connsiteY10" fmla="*/ 0 h 84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14321" h="843538">
                <a:moveTo>
                  <a:pt x="0" y="421768"/>
                </a:moveTo>
                <a:lnTo>
                  <a:pt x="0" y="421769"/>
                </a:lnTo>
                <a:lnTo>
                  <a:pt x="0" y="421769"/>
                </a:lnTo>
                <a:close/>
                <a:moveTo>
                  <a:pt x="421769" y="0"/>
                </a:moveTo>
                <a:lnTo>
                  <a:pt x="5314321" y="0"/>
                </a:lnTo>
                <a:lnTo>
                  <a:pt x="5314321" y="843538"/>
                </a:lnTo>
                <a:lnTo>
                  <a:pt x="421769" y="843537"/>
                </a:lnTo>
                <a:cubicBezTo>
                  <a:pt x="217950" y="843537"/>
                  <a:pt x="47898" y="698963"/>
                  <a:pt x="8569" y="506769"/>
                </a:cubicBezTo>
                <a:lnTo>
                  <a:pt x="0" y="421769"/>
                </a:lnTo>
                <a:lnTo>
                  <a:pt x="8569" y="336768"/>
                </a:lnTo>
                <a:cubicBezTo>
                  <a:pt x="47898" y="144575"/>
                  <a:pt x="217950" y="0"/>
                  <a:pt x="42176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1007999" anchor="ctr" anchorCtr="0">
            <a:noAutofit/>
          </a:bodyPr>
          <a:lstStyle>
            <a:lvl1pPr marL="0" indent="0" algn="l">
              <a:lnSpc>
                <a:spcPts val="1650"/>
              </a:lnSpc>
              <a:buNone/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39" name="Forme libre 38">
            <a:extLst>
              <a:ext uri="{FF2B5EF4-FFF2-40B4-BE49-F238E27FC236}">
                <a16:creationId xmlns:a16="http://schemas.microsoft.com/office/drawing/2014/main" id="{635A6D6C-8398-FD41-9338-357E85FCA3FB}"/>
              </a:ext>
            </a:extLst>
          </p:cNvPr>
          <p:cNvSpPr/>
          <p:nvPr userDrawn="1"/>
        </p:nvSpPr>
        <p:spPr>
          <a:xfrm rot="18900000">
            <a:off x="5406111" y="3365709"/>
            <a:ext cx="234676" cy="234676"/>
          </a:xfrm>
          <a:custGeom>
            <a:avLst/>
            <a:gdLst>
              <a:gd name="connsiteX0" fmla="*/ 2163652 w 2163778"/>
              <a:gd name="connsiteY0" fmla="*/ 0 h 2163778"/>
              <a:gd name="connsiteX1" fmla="*/ 2163652 w 2163778"/>
              <a:gd name="connsiteY1" fmla="*/ 1910396 h 2163778"/>
              <a:gd name="connsiteX2" fmla="*/ 2163778 w 2163778"/>
              <a:gd name="connsiteY2" fmla="*/ 1910396 h 2163778"/>
              <a:gd name="connsiteX3" fmla="*/ 2163778 w 2163778"/>
              <a:gd name="connsiteY3" fmla="*/ 2163652 h 2163778"/>
              <a:gd name="connsiteX4" fmla="*/ 2163652 w 2163778"/>
              <a:gd name="connsiteY4" fmla="*/ 2163652 h 2163778"/>
              <a:gd name="connsiteX5" fmla="*/ 2163652 w 2163778"/>
              <a:gd name="connsiteY5" fmla="*/ 2163778 h 2163778"/>
              <a:gd name="connsiteX6" fmla="*/ 1910396 w 2163778"/>
              <a:gd name="connsiteY6" fmla="*/ 2163778 h 2163778"/>
              <a:gd name="connsiteX7" fmla="*/ 1910396 w 2163778"/>
              <a:gd name="connsiteY7" fmla="*/ 2163652 h 2163778"/>
              <a:gd name="connsiteX8" fmla="*/ 0 w 2163778"/>
              <a:gd name="connsiteY8" fmla="*/ 2163652 h 2163778"/>
              <a:gd name="connsiteX9" fmla="*/ 0 w 2163778"/>
              <a:gd name="connsiteY9" fmla="*/ 1910396 h 2163778"/>
              <a:gd name="connsiteX10" fmla="*/ 1910396 w 2163778"/>
              <a:gd name="connsiteY10" fmla="*/ 1910396 h 2163778"/>
              <a:gd name="connsiteX11" fmla="*/ 1910396 w 2163778"/>
              <a:gd name="connsiteY11" fmla="*/ 0 h 216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63778" h="2163778">
                <a:moveTo>
                  <a:pt x="2163652" y="0"/>
                </a:moveTo>
                <a:lnTo>
                  <a:pt x="2163652" y="1910396"/>
                </a:lnTo>
                <a:lnTo>
                  <a:pt x="2163778" y="1910396"/>
                </a:lnTo>
                <a:lnTo>
                  <a:pt x="2163778" y="2163652"/>
                </a:lnTo>
                <a:lnTo>
                  <a:pt x="2163652" y="2163652"/>
                </a:lnTo>
                <a:lnTo>
                  <a:pt x="2163652" y="2163778"/>
                </a:lnTo>
                <a:lnTo>
                  <a:pt x="1910396" y="2163778"/>
                </a:lnTo>
                <a:lnTo>
                  <a:pt x="1910396" y="2163652"/>
                </a:lnTo>
                <a:lnTo>
                  <a:pt x="0" y="2163652"/>
                </a:lnTo>
                <a:lnTo>
                  <a:pt x="0" y="1910396"/>
                </a:lnTo>
                <a:lnTo>
                  <a:pt x="1910396" y="1910396"/>
                </a:lnTo>
                <a:lnTo>
                  <a:pt x="191039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1" name="Forme libre 30">
            <a:extLst>
              <a:ext uri="{FF2B5EF4-FFF2-40B4-BE49-F238E27FC236}">
                <a16:creationId xmlns:a16="http://schemas.microsoft.com/office/drawing/2014/main" id="{384F2333-9CCD-414A-865E-9B12A8B4FE17}"/>
              </a:ext>
            </a:extLst>
          </p:cNvPr>
          <p:cNvSpPr/>
          <p:nvPr userDrawn="1"/>
        </p:nvSpPr>
        <p:spPr>
          <a:xfrm rot="18900000">
            <a:off x="5406111" y="1728437"/>
            <a:ext cx="234676" cy="234676"/>
          </a:xfrm>
          <a:custGeom>
            <a:avLst/>
            <a:gdLst>
              <a:gd name="connsiteX0" fmla="*/ 2163652 w 2163778"/>
              <a:gd name="connsiteY0" fmla="*/ 0 h 2163778"/>
              <a:gd name="connsiteX1" fmla="*/ 2163652 w 2163778"/>
              <a:gd name="connsiteY1" fmla="*/ 1910396 h 2163778"/>
              <a:gd name="connsiteX2" fmla="*/ 2163778 w 2163778"/>
              <a:gd name="connsiteY2" fmla="*/ 1910396 h 2163778"/>
              <a:gd name="connsiteX3" fmla="*/ 2163778 w 2163778"/>
              <a:gd name="connsiteY3" fmla="*/ 2163652 h 2163778"/>
              <a:gd name="connsiteX4" fmla="*/ 2163652 w 2163778"/>
              <a:gd name="connsiteY4" fmla="*/ 2163652 h 2163778"/>
              <a:gd name="connsiteX5" fmla="*/ 2163652 w 2163778"/>
              <a:gd name="connsiteY5" fmla="*/ 2163778 h 2163778"/>
              <a:gd name="connsiteX6" fmla="*/ 1910396 w 2163778"/>
              <a:gd name="connsiteY6" fmla="*/ 2163778 h 2163778"/>
              <a:gd name="connsiteX7" fmla="*/ 1910396 w 2163778"/>
              <a:gd name="connsiteY7" fmla="*/ 2163652 h 2163778"/>
              <a:gd name="connsiteX8" fmla="*/ 0 w 2163778"/>
              <a:gd name="connsiteY8" fmla="*/ 2163652 h 2163778"/>
              <a:gd name="connsiteX9" fmla="*/ 0 w 2163778"/>
              <a:gd name="connsiteY9" fmla="*/ 1910396 h 2163778"/>
              <a:gd name="connsiteX10" fmla="*/ 1910396 w 2163778"/>
              <a:gd name="connsiteY10" fmla="*/ 1910396 h 2163778"/>
              <a:gd name="connsiteX11" fmla="*/ 1910396 w 2163778"/>
              <a:gd name="connsiteY11" fmla="*/ 0 h 216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63778" h="2163778">
                <a:moveTo>
                  <a:pt x="2163652" y="0"/>
                </a:moveTo>
                <a:lnTo>
                  <a:pt x="2163652" y="1910396"/>
                </a:lnTo>
                <a:lnTo>
                  <a:pt x="2163778" y="1910396"/>
                </a:lnTo>
                <a:lnTo>
                  <a:pt x="2163778" y="2163652"/>
                </a:lnTo>
                <a:lnTo>
                  <a:pt x="2163652" y="2163652"/>
                </a:lnTo>
                <a:lnTo>
                  <a:pt x="2163652" y="2163778"/>
                </a:lnTo>
                <a:lnTo>
                  <a:pt x="1910396" y="2163778"/>
                </a:lnTo>
                <a:lnTo>
                  <a:pt x="1910396" y="2163652"/>
                </a:lnTo>
                <a:lnTo>
                  <a:pt x="0" y="2163652"/>
                </a:lnTo>
                <a:lnTo>
                  <a:pt x="0" y="1910396"/>
                </a:lnTo>
                <a:lnTo>
                  <a:pt x="1910396" y="1910396"/>
                </a:lnTo>
                <a:lnTo>
                  <a:pt x="191039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F7515F2-31D9-3F47-9BBA-4416E83D64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5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B23183-E551-954D-8EEC-A119D0B2FE34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22" name="Espace réservé pour une image  2">
            <a:extLst>
              <a:ext uri="{FF2B5EF4-FFF2-40B4-BE49-F238E27FC236}">
                <a16:creationId xmlns:a16="http://schemas.microsoft.com/office/drawing/2014/main" id="{92EAFF21-E0B0-CC42-BDF2-D87A09446BD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572000" y="0"/>
            <a:ext cx="4572000" cy="456065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/>
              <a:t>Visual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6307" y="561380"/>
            <a:ext cx="3407569" cy="584001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Title</a:t>
            </a:r>
            <a:r>
              <a:rPr lang="fr-FR" dirty="0"/>
              <a:t> slide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(Century Gothic 26 pt)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C573D3CB-6F51-B64E-8E88-7F18FCF6B1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26307" y="1690550"/>
            <a:ext cx="3367555" cy="26402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65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</a:t>
            </a:r>
          </a:p>
          <a:p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</a:t>
            </a:r>
          </a:p>
          <a:p>
            <a:endParaRPr lang="fr-FR" dirty="0"/>
          </a:p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</a:t>
            </a:r>
          </a:p>
          <a:p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</a:t>
            </a:r>
          </a:p>
          <a:p>
            <a:endParaRPr lang="fr-FR" dirty="0"/>
          </a:p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</a:t>
            </a:r>
          </a:p>
          <a:p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</a:t>
            </a:r>
          </a:p>
          <a:p>
            <a:endParaRPr lang="fr-FR" dirty="0"/>
          </a:p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</a:t>
            </a:r>
          </a:p>
          <a:p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</a:t>
            </a:r>
          </a:p>
          <a:p>
            <a:endParaRPr lang="fr-FR" dirty="0"/>
          </a:p>
        </p:txBody>
      </p:sp>
      <p:sp>
        <p:nvSpPr>
          <p:cNvPr id="41" name="Espace réservé du contenu 40">
            <a:extLst>
              <a:ext uri="{FF2B5EF4-FFF2-40B4-BE49-F238E27FC236}">
                <a16:creationId xmlns:a16="http://schemas.microsoft.com/office/drawing/2014/main" id="{37E9F77B-47AC-094C-954D-9FD32172B30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72000" y="1385500"/>
            <a:ext cx="2306701" cy="3175154"/>
          </a:xfrm>
          <a:custGeom>
            <a:avLst/>
            <a:gdLst>
              <a:gd name="connsiteX0" fmla="*/ 0 w 3075601"/>
              <a:gd name="connsiteY0" fmla="*/ 0 h 4233538"/>
              <a:gd name="connsiteX1" fmla="*/ 1485703 w 3075601"/>
              <a:gd name="connsiteY1" fmla="*/ 0 h 4233538"/>
              <a:gd name="connsiteX2" fmla="*/ 3075601 w 3075601"/>
              <a:gd name="connsiteY2" fmla="*/ 1589898 h 4233538"/>
              <a:gd name="connsiteX3" fmla="*/ 3075601 w 3075601"/>
              <a:gd name="connsiteY3" fmla="*/ 4233538 h 4233538"/>
              <a:gd name="connsiteX4" fmla="*/ 0 w 3075601"/>
              <a:gd name="connsiteY4" fmla="*/ 4233538 h 423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5601" h="4233538">
                <a:moveTo>
                  <a:pt x="0" y="0"/>
                </a:moveTo>
                <a:lnTo>
                  <a:pt x="1485703" y="0"/>
                </a:lnTo>
                <a:cubicBezTo>
                  <a:pt x="2363779" y="0"/>
                  <a:pt x="3075601" y="711822"/>
                  <a:pt x="3075601" y="1589898"/>
                </a:cubicBezTo>
                <a:lnTo>
                  <a:pt x="3075601" y="4233538"/>
                </a:lnTo>
                <a:lnTo>
                  <a:pt x="0" y="423353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32000" tIns="720000" rIns="576000" anchor="t" anchorCtr="0">
            <a:noAutofit/>
          </a:bodyPr>
          <a:lstStyle>
            <a:lvl1pPr marL="0" indent="0" algn="l">
              <a:lnSpc>
                <a:spcPts val="1650"/>
              </a:lnSpc>
              <a:spcBef>
                <a:spcPts val="0"/>
              </a:spcBef>
              <a:buFontTx/>
              <a:buNone/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</a:t>
            </a:r>
            <a:br>
              <a:rPr lang="fr-FR" dirty="0"/>
            </a:br>
            <a:r>
              <a:rPr lang="fr-FR" dirty="0"/>
              <a:t>tuer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</a:t>
            </a:r>
            <a:br>
              <a:rPr lang="fr-FR" dirty="0"/>
            </a:b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</a:t>
            </a:r>
            <a:br>
              <a:rPr lang="fr-FR" dirty="0"/>
            </a:br>
            <a:r>
              <a:rPr lang="fr-FR" dirty="0" err="1"/>
              <a:t>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E366865-F68D-924C-925F-C923BB61E0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6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B23183-E551-954D-8EEC-A119D0B2FE34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6306" y="561380"/>
            <a:ext cx="7749779" cy="584001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Title</a:t>
            </a:r>
            <a:r>
              <a:rPr lang="fr-FR" dirty="0"/>
              <a:t> slide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(Century Gothic 26 pt)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B6B17B4-FF07-D449-864A-2C752471F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306" y="1369219"/>
            <a:ext cx="7749779" cy="30283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64B3EDE-9BA2-5641-8E7A-4A025C0F3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10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82DCC05-9DFF-AA4E-AFA9-3D1A2B13D6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56608" y="1344593"/>
            <a:ext cx="2543872" cy="254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58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B23183-E551-954D-8EEC-A119D0B2FE34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16" y="442846"/>
            <a:ext cx="7749779" cy="584001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Title</a:t>
            </a:r>
            <a:r>
              <a:rPr lang="fr-FR" dirty="0"/>
              <a:t> slide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(Century Gothic 26 pt)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B6B17B4-FF07-D449-864A-2C752471F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6" y="1250685"/>
            <a:ext cx="7749779" cy="30283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E7BF662-1D9C-4F4E-8F6E-E9EB42137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59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43B9F1B-7F6A-DB49-8DA0-664B2686EFE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184DD8-EFD8-C44D-B9A2-96E5FF58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6306" y="4638675"/>
            <a:ext cx="2057400" cy="160735"/>
          </a:xfrm>
          <a:prstGeom prst="rect">
            <a:avLst/>
          </a:prstGeom>
        </p:spPr>
        <p:txBody>
          <a:bodyPr lIns="0" tIns="0" rIns="0" bIns="0"/>
          <a:lstStyle>
            <a:lvl1pPr>
              <a:defRPr sz="975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1ADDB57C-F52B-5B43-B01A-103D54AD81BC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EAD40F06-6FAD-B64D-BF71-4E09BBE558FA}"/>
              </a:ext>
            </a:extLst>
          </p:cNvPr>
          <p:cNvSpPr/>
          <p:nvPr userDrawn="1"/>
        </p:nvSpPr>
        <p:spPr>
          <a:xfrm>
            <a:off x="919163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82B7A1-43C6-F64F-9A0B-BD0023BAC0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9163" y="727498"/>
            <a:ext cx="7756922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E761C-7C24-B743-8E80-DCD981CC09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6" y="2854118"/>
            <a:ext cx="7756923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5C27DDF-F06E-874A-A82D-7F376A0D4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29401" y="4242313"/>
            <a:ext cx="2216339" cy="74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4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05F5FEE-F61E-574A-B893-0E549E4CD96A}"/>
              </a:ext>
            </a:extLst>
          </p:cNvPr>
          <p:cNvSpPr/>
          <p:nvPr userDrawn="1"/>
        </p:nvSpPr>
        <p:spPr>
          <a:xfrm>
            <a:off x="0" y="1"/>
            <a:ext cx="3095284" cy="514349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9EACE8BA-3FE1-EE48-81E1-7E7B8DDE5C3F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095283" y="0"/>
            <a:ext cx="6048718" cy="514350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 err="1"/>
              <a:t>visual</a:t>
            </a:r>
            <a:endParaRPr lang="fr-FR" dirty="0"/>
          </a:p>
        </p:txBody>
      </p:sp>
      <p:sp>
        <p:nvSpPr>
          <p:cNvPr id="40" name="Espace réservé de la date 3">
            <a:extLst>
              <a:ext uri="{FF2B5EF4-FFF2-40B4-BE49-F238E27FC236}">
                <a16:creationId xmlns:a16="http://schemas.microsoft.com/office/drawing/2014/main" id="{0AE4A73D-6541-9C41-969E-9D9E6736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0726" y="4638675"/>
            <a:ext cx="2057400" cy="160735"/>
          </a:xfrm>
          <a:prstGeom prst="rect">
            <a:avLst/>
          </a:prstGeom>
        </p:spPr>
        <p:txBody>
          <a:bodyPr lIns="0" tIns="0" rIns="0" bIns="0"/>
          <a:lstStyle>
            <a:lvl1pPr>
              <a:defRPr sz="975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74B1588B-B492-A44B-852C-52B76DA9C505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1382887C-986A-5C47-9F28-BACBE89668CB}"/>
              </a:ext>
            </a:extLst>
          </p:cNvPr>
          <p:cNvSpPr/>
          <p:nvPr userDrawn="1"/>
        </p:nvSpPr>
        <p:spPr>
          <a:xfrm>
            <a:off x="926307" y="1542563"/>
            <a:ext cx="2168977" cy="2553377"/>
          </a:xfrm>
          <a:custGeom>
            <a:avLst/>
            <a:gdLst>
              <a:gd name="connsiteX0" fmla="*/ 2891969 w 2891969"/>
              <a:gd name="connsiteY0" fmla="*/ 0 h 3404503"/>
              <a:gd name="connsiteX1" fmla="*/ 2891969 w 2891969"/>
              <a:gd name="connsiteY1" fmla="*/ 2622287 h 3404503"/>
              <a:gd name="connsiteX2" fmla="*/ 2665964 w 2891969"/>
              <a:gd name="connsiteY2" fmla="*/ 2752237 h 3404503"/>
              <a:gd name="connsiteX3" fmla="*/ 89969 w 2891969"/>
              <a:gd name="connsiteY3" fmla="*/ 3404503 h 3404503"/>
              <a:gd name="connsiteX4" fmla="*/ 0 w 2891969"/>
              <a:gd name="connsiteY4" fmla="*/ 3402228 h 3404503"/>
              <a:gd name="connsiteX5" fmla="*/ 0 w 2891969"/>
              <a:gd name="connsiteY5" fmla="*/ 1443291 h 3404503"/>
              <a:gd name="connsiteX6" fmla="*/ 89970 w 2891969"/>
              <a:gd name="connsiteY6" fmla="*/ 1445566 h 3404503"/>
              <a:gd name="connsiteX7" fmla="*/ 2748554 w 2891969"/>
              <a:gd name="connsiteY7" fmla="*/ 191787 h 3404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1969" h="3404503">
                <a:moveTo>
                  <a:pt x="2891969" y="0"/>
                </a:moveTo>
                <a:lnTo>
                  <a:pt x="2891969" y="2622287"/>
                </a:lnTo>
                <a:lnTo>
                  <a:pt x="2665964" y="2752237"/>
                </a:lnTo>
                <a:cubicBezTo>
                  <a:pt x="1900215" y="3168217"/>
                  <a:pt x="1022686" y="3404503"/>
                  <a:pt x="89969" y="3404503"/>
                </a:cubicBezTo>
                <a:lnTo>
                  <a:pt x="0" y="3402228"/>
                </a:lnTo>
                <a:lnTo>
                  <a:pt x="0" y="1443291"/>
                </a:lnTo>
                <a:lnTo>
                  <a:pt x="89970" y="1445566"/>
                </a:lnTo>
                <a:cubicBezTo>
                  <a:pt x="1160297" y="1445566"/>
                  <a:pt x="2116630" y="957501"/>
                  <a:pt x="2748554" y="19178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 dirty="0"/>
          </a:p>
        </p:txBody>
      </p:sp>
      <p:sp>
        <p:nvSpPr>
          <p:cNvPr id="20" name="Forme libre 19">
            <a:extLst>
              <a:ext uri="{FF2B5EF4-FFF2-40B4-BE49-F238E27FC236}">
                <a16:creationId xmlns:a16="http://schemas.microsoft.com/office/drawing/2014/main" id="{E7F24AA1-A3C6-4941-8250-E97804125718}"/>
              </a:ext>
            </a:extLst>
          </p:cNvPr>
          <p:cNvSpPr/>
          <p:nvPr userDrawn="1"/>
        </p:nvSpPr>
        <p:spPr>
          <a:xfrm>
            <a:off x="3095282" y="2"/>
            <a:ext cx="1951701" cy="3509277"/>
          </a:xfrm>
          <a:custGeom>
            <a:avLst/>
            <a:gdLst>
              <a:gd name="connsiteX0" fmla="*/ 641890 w 2602268"/>
              <a:gd name="connsiteY0" fmla="*/ 0 h 4679036"/>
              <a:gd name="connsiteX1" fmla="*/ 2600827 w 2602268"/>
              <a:gd name="connsiteY1" fmla="*/ 0 h 4679036"/>
              <a:gd name="connsiteX2" fmla="*/ 2602268 w 2602268"/>
              <a:gd name="connsiteY2" fmla="*/ 56984 h 4679036"/>
              <a:gd name="connsiteX3" fmla="*/ 310 w 2602268"/>
              <a:gd name="connsiteY3" fmla="*/ 4678857 h 4679036"/>
              <a:gd name="connsiteX4" fmla="*/ 0 w 2602268"/>
              <a:gd name="connsiteY4" fmla="*/ 4679036 h 4679036"/>
              <a:gd name="connsiteX5" fmla="*/ 0 w 2602268"/>
              <a:gd name="connsiteY5" fmla="*/ 2056749 h 4679036"/>
              <a:gd name="connsiteX6" fmla="*/ 54923 w 2602268"/>
              <a:gd name="connsiteY6" fmla="*/ 1983301 h 4679036"/>
              <a:gd name="connsiteX7" fmla="*/ 643331 w 2602268"/>
              <a:gd name="connsiteY7" fmla="*/ 56985 h 4679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2268" h="4679036">
                <a:moveTo>
                  <a:pt x="641890" y="0"/>
                </a:moveTo>
                <a:lnTo>
                  <a:pt x="2600827" y="0"/>
                </a:lnTo>
                <a:lnTo>
                  <a:pt x="2602268" y="56984"/>
                </a:lnTo>
                <a:cubicBezTo>
                  <a:pt x="2602268" y="2015690"/>
                  <a:pt x="1560245" y="3731018"/>
                  <a:pt x="310" y="4678857"/>
                </a:cubicBezTo>
                <a:lnTo>
                  <a:pt x="0" y="4679036"/>
                </a:lnTo>
                <a:lnTo>
                  <a:pt x="0" y="2056749"/>
                </a:lnTo>
                <a:lnTo>
                  <a:pt x="54923" y="1983301"/>
                </a:lnTo>
                <a:cubicBezTo>
                  <a:pt x="426414" y="1433423"/>
                  <a:pt x="643331" y="770536"/>
                  <a:pt x="643331" y="5698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 dirty="0"/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1B0E6927-DA7F-9D48-AD2D-DDB4F157F0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756922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E761C-7C24-B743-8E80-DCD981CC09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749778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637C3BA-5CBF-CB43-B7E5-2A63BD959F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28500" y="4242311"/>
            <a:ext cx="2219621" cy="74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69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184DD8-EFD8-C44D-B9A2-96E5FF58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245" y="4638675"/>
            <a:ext cx="2057400" cy="160735"/>
          </a:xfrm>
          <a:prstGeom prst="rect">
            <a:avLst/>
          </a:prstGeom>
        </p:spPr>
        <p:txBody>
          <a:bodyPr lIns="0" tIns="0" rIns="0" bIns="0"/>
          <a:lstStyle>
            <a:lvl1pPr>
              <a:defRPr sz="975"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D9A5D03F-310E-B640-BCE4-49E71E50EE57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EAD40F06-6FAD-B64D-BF71-4E09BBE558FA}"/>
              </a:ext>
            </a:extLst>
          </p:cNvPr>
          <p:cNvSpPr/>
          <p:nvPr userDrawn="1"/>
        </p:nvSpPr>
        <p:spPr>
          <a:xfrm>
            <a:off x="926306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82B7A1-43C6-F64F-9A0B-BD0023BAC0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6" y="698923"/>
            <a:ext cx="7749779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E761C-7C24-B743-8E80-DCD981CC09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6" y="2854118"/>
            <a:ext cx="7749779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88BE91E-B7DB-4F4D-9360-FD044CAEFF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28500" y="4242311"/>
            <a:ext cx="2219621" cy="74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24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47617FB2-40AE-FB40-8C64-E29C05BF569F}"/>
              </a:ext>
            </a:extLst>
          </p:cNvPr>
          <p:cNvSpPr/>
          <p:nvPr userDrawn="1"/>
        </p:nvSpPr>
        <p:spPr>
          <a:xfrm>
            <a:off x="926306" y="1542559"/>
            <a:ext cx="2168979" cy="2553381"/>
          </a:xfrm>
          <a:custGeom>
            <a:avLst/>
            <a:gdLst>
              <a:gd name="connsiteX0" fmla="*/ 2891972 w 2891972"/>
              <a:gd name="connsiteY0" fmla="*/ 0 h 3404508"/>
              <a:gd name="connsiteX1" fmla="*/ 2891972 w 2891972"/>
              <a:gd name="connsiteY1" fmla="*/ 2622290 h 3404508"/>
              <a:gd name="connsiteX2" fmla="*/ 2665964 w 2891972"/>
              <a:gd name="connsiteY2" fmla="*/ 2752242 h 3404508"/>
              <a:gd name="connsiteX3" fmla="*/ 89969 w 2891972"/>
              <a:gd name="connsiteY3" fmla="*/ 3404508 h 3404508"/>
              <a:gd name="connsiteX4" fmla="*/ 0 w 2891972"/>
              <a:gd name="connsiteY4" fmla="*/ 3402233 h 3404508"/>
              <a:gd name="connsiteX5" fmla="*/ 0 w 2891972"/>
              <a:gd name="connsiteY5" fmla="*/ 1443296 h 3404508"/>
              <a:gd name="connsiteX6" fmla="*/ 89970 w 2891972"/>
              <a:gd name="connsiteY6" fmla="*/ 1445571 h 3404508"/>
              <a:gd name="connsiteX7" fmla="*/ 2748554 w 2891972"/>
              <a:gd name="connsiteY7" fmla="*/ 191792 h 3404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1972" h="3404508">
                <a:moveTo>
                  <a:pt x="2891972" y="0"/>
                </a:moveTo>
                <a:lnTo>
                  <a:pt x="2891972" y="2622290"/>
                </a:lnTo>
                <a:lnTo>
                  <a:pt x="2665964" y="2752242"/>
                </a:lnTo>
                <a:cubicBezTo>
                  <a:pt x="1900215" y="3168222"/>
                  <a:pt x="1022686" y="3404508"/>
                  <a:pt x="89969" y="3404508"/>
                </a:cubicBezTo>
                <a:lnTo>
                  <a:pt x="0" y="3402233"/>
                </a:lnTo>
                <a:lnTo>
                  <a:pt x="0" y="1443296"/>
                </a:lnTo>
                <a:lnTo>
                  <a:pt x="89970" y="1445571"/>
                </a:lnTo>
                <a:cubicBezTo>
                  <a:pt x="1160297" y="1445571"/>
                  <a:pt x="2116630" y="957506"/>
                  <a:pt x="2748554" y="19179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9EACE8BA-3FE1-EE48-81E1-7E7B8DDE5C3F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095286" y="0"/>
            <a:ext cx="6048715" cy="51435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 err="1"/>
              <a:t>visual</a:t>
            </a:r>
            <a:endParaRPr lang="fr-FR" dirty="0"/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6C19AFF0-0A0D-E443-9262-98A60588603C}"/>
              </a:ext>
            </a:extLst>
          </p:cNvPr>
          <p:cNvSpPr/>
          <p:nvPr userDrawn="1"/>
        </p:nvSpPr>
        <p:spPr>
          <a:xfrm>
            <a:off x="3095285" y="1"/>
            <a:ext cx="1951700" cy="3509276"/>
          </a:xfrm>
          <a:custGeom>
            <a:avLst/>
            <a:gdLst>
              <a:gd name="connsiteX0" fmla="*/ 641888 w 2602266"/>
              <a:gd name="connsiteY0" fmla="*/ 0 h 4679034"/>
              <a:gd name="connsiteX1" fmla="*/ 2600825 w 2602266"/>
              <a:gd name="connsiteY1" fmla="*/ 0 h 4679034"/>
              <a:gd name="connsiteX2" fmla="*/ 2602266 w 2602266"/>
              <a:gd name="connsiteY2" fmla="*/ 56984 h 4679034"/>
              <a:gd name="connsiteX3" fmla="*/ 308 w 2602266"/>
              <a:gd name="connsiteY3" fmla="*/ 4678857 h 4679034"/>
              <a:gd name="connsiteX4" fmla="*/ 0 w 2602266"/>
              <a:gd name="connsiteY4" fmla="*/ 4679034 h 4679034"/>
              <a:gd name="connsiteX5" fmla="*/ 0 w 2602266"/>
              <a:gd name="connsiteY5" fmla="*/ 2056746 h 4679034"/>
              <a:gd name="connsiteX6" fmla="*/ 54921 w 2602266"/>
              <a:gd name="connsiteY6" fmla="*/ 1983301 h 4679034"/>
              <a:gd name="connsiteX7" fmla="*/ 643329 w 2602266"/>
              <a:gd name="connsiteY7" fmla="*/ 56985 h 46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2266" h="4679034">
                <a:moveTo>
                  <a:pt x="641888" y="0"/>
                </a:moveTo>
                <a:lnTo>
                  <a:pt x="2600825" y="0"/>
                </a:lnTo>
                <a:lnTo>
                  <a:pt x="2602266" y="56984"/>
                </a:lnTo>
                <a:cubicBezTo>
                  <a:pt x="2602266" y="2015690"/>
                  <a:pt x="1560243" y="3731018"/>
                  <a:pt x="308" y="4678857"/>
                </a:cubicBezTo>
                <a:lnTo>
                  <a:pt x="0" y="4679034"/>
                </a:lnTo>
                <a:lnTo>
                  <a:pt x="0" y="2056746"/>
                </a:lnTo>
                <a:lnTo>
                  <a:pt x="54921" y="1983301"/>
                </a:lnTo>
                <a:cubicBezTo>
                  <a:pt x="426412" y="1433423"/>
                  <a:pt x="643329" y="770536"/>
                  <a:pt x="643329" y="56985"/>
                </a:cubicBezTo>
                <a:close/>
              </a:path>
            </a:pathLst>
          </a:cu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E761C-7C24-B743-8E80-DCD981CC09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749778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sp>
        <p:nvSpPr>
          <p:cNvPr id="40" name="Espace réservé de la date 3">
            <a:extLst>
              <a:ext uri="{FF2B5EF4-FFF2-40B4-BE49-F238E27FC236}">
                <a16:creationId xmlns:a16="http://schemas.microsoft.com/office/drawing/2014/main" id="{0AE4A73D-6541-9C41-969E-9D9E6736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6306" y="4638675"/>
            <a:ext cx="2057400" cy="160735"/>
          </a:xfrm>
          <a:prstGeom prst="rect">
            <a:avLst/>
          </a:prstGeom>
        </p:spPr>
        <p:txBody>
          <a:bodyPr lIns="0" tIns="0" rIns="0" bIns="0"/>
          <a:lstStyle>
            <a:lvl1pPr>
              <a:defRPr sz="975"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8471A581-D256-9646-9291-024CC6FA483F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F13569A-9038-C549-B946-4CB2B8A638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749778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33F2C9C-8457-D64B-BA26-0140313999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28500" y="4242311"/>
            <a:ext cx="2219621" cy="74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14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rée de chapitre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e libre 10">
            <a:extLst>
              <a:ext uri="{FF2B5EF4-FFF2-40B4-BE49-F238E27FC236}">
                <a16:creationId xmlns:a16="http://schemas.microsoft.com/office/drawing/2014/main" id="{771D75BF-7A6F-BE42-ACAC-003607FCD76F}"/>
              </a:ext>
            </a:extLst>
          </p:cNvPr>
          <p:cNvSpPr/>
          <p:nvPr userDrawn="1"/>
        </p:nvSpPr>
        <p:spPr>
          <a:xfrm>
            <a:off x="926306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B7D4B-25AB-3B40-9FA9-856250EFE26C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/>
              <a:t>Footer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F9B6917-3135-5543-BB21-7EE5160354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856935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746828C2-E0B2-C841-B815-1229645D7E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856935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255FB3D-7428-EC49-921B-DFEB1C6047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745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trée de chapitre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e libre 10">
            <a:extLst>
              <a:ext uri="{FF2B5EF4-FFF2-40B4-BE49-F238E27FC236}">
                <a16:creationId xmlns:a16="http://schemas.microsoft.com/office/drawing/2014/main" id="{771D75BF-7A6F-BE42-ACAC-003607FCD76F}"/>
              </a:ext>
            </a:extLst>
          </p:cNvPr>
          <p:cNvSpPr/>
          <p:nvPr userDrawn="1"/>
        </p:nvSpPr>
        <p:spPr>
          <a:xfrm>
            <a:off x="926306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B7D4B-25AB-3B40-9FA9-856250EFE26C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/>
              <a:t>Footer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F9B6917-3135-5543-BB21-7EE5160354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749779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746828C2-E0B2-C841-B815-1229645D7E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749779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66614D2-8D4F-AC47-B88D-C139FD4325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99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trée de chapitre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CFA2AD-1ABE-4843-AECA-117CE310A314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5FC40DE6-95E0-2843-884F-8246A32520F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3095286" y="0"/>
            <a:ext cx="6048715" cy="514350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/>
              <a:t>Visual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F9A7FA-0440-F44F-8513-5E831B3D54B5}"/>
              </a:ext>
            </a:extLst>
          </p:cNvPr>
          <p:cNvSpPr txBox="1"/>
          <p:nvPr userDrawn="1"/>
        </p:nvSpPr>
        <p:spPr>
          <a:xfrm>
            <a:off x="-2124307" y="2475571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350" dirty="0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EF524757-EECA-4F40-BDFA-B98E2898C5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856935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(Century Gothic 41 pt)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033CB210-9BD8-FE41-814C-A050222892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856935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60054F6-BC4B-A74A-9DCB-C5962E90C0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690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B23183-E551-954D-8EEC-A119D0B2FE34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16" y="442846"/>
            <a:ext cx="7749779" cy="584001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Title</a:t>
            </a:r>
            <a:r>
              <a:rPr lang="fr-FR" dirty="0"/>
              <a:t> slide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(Century Gothic 26 pt)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B6B17B4-FF07-D449-864A-2C752471F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6" y="1250685"/>
            <a:ext cx="7749779" cy="30283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E7BF662-1D9C-4F4E-8F6E-E9EB42137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8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A2599C0-363E-994D-B643-9606FFFDA1E3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1531" y="4709483"/>
            <a:ext cx="3086100" cy="273844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Footer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16" y="452627"/>
            <a:ext cx="7748092" cy="584001"/>
          </a:xfrm>
        </p:spPr>
        <p:txBody>
          <a:bodyPr/>
          <a:lstStyle/>
          <a:p>
            <a:r>
              <a:rPr lang="fr-FR" dirty="0" err="1"/>
              <a:t>Title</a:t>
            </a:r>
            <a:r>
              <a:rPr lang="fr-FR" dirty="0"/>
              <a:t> slide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(Century Gothic 26 pt)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E7C64767-C696-6640-B64E-6D3399B97BF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2862" y="3293077"/>
            <a:ext cx="1392710" cy="6191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200"/>
              </a:lnSpc>
              <a:buNone/>
              <a:defRPr sz="900" b="1" i="0"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6102B2A7-A0D9-C848-9D87-DADBEFCF03BC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393600" y="3293077"/>
            <a:ext cx="1392710" cy="6191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200"/>
              </a:lnSpc>
              <a:buNone/>
              <a:defRPr sz="900" b="1" i="0"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699894D1-3820-D742-901E-E079CA83368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304338" y="3293077"/>
            <a:ext cx="1392710" cy="6191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200"/>
              </a:lnSpc>
              <a:buNone/>
              <a:defRPr sz="900" b="1" i="0"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34" name="Espace réservé du contenu 33">
            <a:extLst>
              <a:ext uri="{FF2B5EF4-FFF2-40B4-BE49-F238E27FC236}">
                <a16:creationId xmlns:a16="http://schemas.microsoft.com/office/drawing/2014/main" id="{2C2B70CE-3608-7644-9E94-C0C730F2264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74607" y="1360864"/>
            <a:ext cx="2669393" cy="2460336"/>
          </a:xfrm>
          <a:custGeom>
            <a:avLst/>
            <a:gdLst>
              <a:gd name="connsiteX0" fmla="*/ 0 w 3559190"/>
              <a:gd name="connsiteY0" fmla="*/ 1640223 h 3280448"/>
              <a:gd name="connsiteX1" fmla="*/ 0 w 3559190"/>
              <a:gd name="connsiteY1" fmla="*/ 1640224 h 3280448"/>
              <a:gd name="connsiteX2" fmla="*/ 0 w 3559190"/>
              <a:gd name="connsiteY2" fmla="*/ 1640224 h 3280448"/>
              <a:gd name="connsiteX3" fmla="*/ 1640224 w 3559190"/>
              <a:gd name="connsiteY3" fmla="*/ 0 h 3280448"/>
              <a:gd name="connsiteX4" fmla="*/ 3559190 w 3559190"/>
              <a:gd name="connsiteY4" fmla="*/ 0 h 3280448"/>
              <a:gd name="connsiteX5" fmla="*/ 3559190 w 3559190"/>
              <a:gd name="connsiteY5" fmla="*/ 3280448 h 3280448"/>
              <a:gd name="connsiteX6" fmla="*/ 1640224 w 3559190"/>
              <a:gd name="connsiteY6" fmla="*/ 3280447 h 3280448"/>
              <a:gd name="connsiteX7" fmla="*/ 8468 w 3559190"/>
              <a:gd name="connsiteY7" fmla="*/ 1807927 h 3280448"/>
              <a:gd name="connsiteX8" fmla="*/ 0 w 3559190"/>
              <a:gd name="connsiteY8" fmla="*/ 1640224 h 3280448"/>
              <a:gd name="connsiteX9" fmla="*/ 8468 w 3559190"/>
              <a:gd name="connsiteY9" fmla="*/ 1472521 h 3280448"/>
              <a:gd name="connsiteX10" fmla="*/ 1640224 w 3559190"/>
              <a:gd name="connsiteY10" fmla="*/ 0 h 32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59190" h="3280448">
                <a:moveTo>
                  <a:pt x="0" y="1640223"/>
                </a:moveTo>
                <a:lnTo>
                  <a:pt x="0" y="1640224"/>
                </a:lnTo>
                <a:lnTo>
                  <a:pt x="0" y="1640224"/>
                </a:lnTo>
                <a:close/>
                <a:moveTo>
                  <a:pt x="1640224" y="0"/>
                </a:moveTo>
                <a:lnTo>
                  <a:pt x="3559190" y="0"/>
                </a:lnTo>
                <a:lnTo>
                  <a:pt x="3559190" y="3280448"/>
                </a:lnTo>
                <a:lnTo>
                  <a:pt x="1640224" y="3280447"/>
                </a:lnTo>
                <a:cubicBezTo>
                  <a:pt x="790970" y="3280447"/>
                  <a:pt x="92464" y="2635020"/>
                  <a:pt x="8468" y="1807927"/>
                </a:cubicBezTo>
                <a:lnTo>
                  <a:pt x="0" y="1640224"/>
                </a:lnTo>
                <a:lnTo>
                  <a:pt x="8468" y="1472521"/>
                </a:lnTo>
                <a:cubicBezTo>
                  <a:pt x="92464" y="645428"/>
                  <a:pt x="790970" y="0"/>
                  <a:pt x="1640224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792000" tIns="0" rIns="0" bIns="0" rtlCol="0" anchor="ctr" anchorCtr="0">
            <a:noAutofit/>
          </a:bodyPr>
          <a:lstStyle>
            <a:lvl1pPr marL="0" indent="0">
              <a:buNone/>
              <a:defRPr lang="fr-FR" sz="1200" b="1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1650"/>
              </a:lnSpc>
            </a:pPr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br>
              <a:rPr lang="fr-FR" dirty="0"/>
            </a:b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br>
              <a:rPr lang="fr-FR" dirty="0"/>
            </a:b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br>
              <a:rPr lang="fr-FR" dirty="0"/>
            </a:br>
            <a:r>
              <a:rPr lang="fr-FR" dirty="0"/>
              <a:t>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br>
              <a:rPr lang="fr-FR" dirty="0"/>
            </a:b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</a:t>
            </a:r>
            <a:br>
              <a:rPr lang="fr-FR" dirty="0"/>
            </a:b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</a:t>
            </a:r>
            <a:br>
              <a:rPr lang="fr-FR" dirty="0"/>
            </a:b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</a:t>
            </a:r>
            <a:br>
              <a:rPr lang="fr-FR" dirty="0"/>
            </a:br>
            <a:r>
              <a:rPr lang="fr-FR" dirty="0"/>
              <a:t>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QSDSDenim</a:t>
            </a:r>
            <a:r>
              <a:rPr lang="fr-FR" dirty="0"/>
              <a:t> ad. </a:t>
            </a:r>
          </a:p>
        </p:txBody>
      </p:sp>
      <p:sp>
        <p:nvSpPr>
          <p:cNvPr id="36" name="Espace réservé du contenu 2">
            <a:extLst>
              <a:ext uri="{FF2B5EF4-FFF2-40B4-BE49-F238E27FC236}">
                <a16:creationId xmlns:a16="http://schemas.microsoft.com/office/drawing/2014/main" id="{B157FC8C-8E72-C444-9A6C-63DAF807B7B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12721" y="2376487"/>
            <a:ext cx="1140371" cy="42909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ts val="1200"/>
              </a:lnSpc>
              <a:buNone/>
              <a:defRPr sz="2625" b="1" i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/>
              <a:t>95%</a:t>
            </a:r>
          </a:p>
        </p:txBody>
      </p:sp>
      <p:sp>
        <p:nvSpPr>
          <p:cNvPr id="38" name="Espace réservé du contenu 2">
            <a:extLst>
              <a:ext uri="{FF2B5EF4-FFF2-40B4-BE49-F238E27FC236}">
                <a16:creationId xmlns:a16="http://schemas.microsoft.com/office/drawing/2014/main" id="{916931DF-E352-2D43-8D9A-777CA70F10CE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523537" y="2376487"/>
            <a:ext cx="1146491" cy="42909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ts val="1200"/>
              </a:lnSpc>
              <a:buNone/>
              <a:defRPr sz="2625" b="1" i="0">
                <a:solidFill>
                  <a:srgbClr val="47BFD9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/>
              <a:t>36%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434E4094-3F52-D44B-96AF-451D714832B4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30566" y="2376487"/>
            <a:ext cx="1146491" cy="42909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ts val="1200"/>
              </a:lnSpc>
              <a:buNone/>
              <a:defRPr sz="2625" b="1" i="0">
                <a:solidFill>
                  <a:srgbClr val="91C461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/>
              <a:t>22%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132AC26-8E1D-2442-9B5C-352A609E3C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75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DACB068-14A3-EC46-8C25-07D15C463242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22" name="Espace réservé pour une image  2">
            <a:extLst>
              <a:ext uri="{FF2B5EF4-FFF2-40B4-BE49-F238E27FC236}">
                <a16:creationId xmlns:a16="http://schemas.microsoft.com/office/drawing/2014/main" id="{92EAFF21-E0B0-CC42-BDF2-D87A09446BD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7917" y="1038886"/>
            <a:ext cx="4950053" cy="352176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/>
              <a:t>Visual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15" y="456096"/>
            <a:ext cx="7749779" cy="624142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Title</a:t>
            </a:r>
            <a:r>
              <a:rPr lang="fr-FR" dirty="0"/>
              <a:t> slide in one line (Century Gothic 26 pt)</a:t>
            </a:r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887681B2-3BA5-2A4F-996C-13EBF63FE5B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699869" y="1529448"/>
            <a:ext cx="4444131" cy="632654"/>
          </a:xfrm>
          <a:custGeom>
            <a:avLst/>
            <a:gdLst>
              <a:gd name="connsiteX0" fmla="*/ 0 w 5314321"/>
              <a:gd name="connsiteY0" fmla="*/ 421768 h 843538"/>
              <a:gd name="connsiteX1" fmla="*/ 0 w 5314321"/>
              <a:gd name="connsiteY1" fmla="*/ 421769 h 843538"/>
              <a:gd name="connsiteX2" fmla="*/ 0 w 5314321"/>
              <a:gd name="connsiteY2" fmla="*/ 421769 h 843538"/>
              <a:gd name="connsiteX3" fmla="*/ 421769 w 5314321"/>
              <a:gd name="connsiteY3" fmla="*/ 0 h 843538"/>
              <a:gd name="connsiteX4" fmla="*/ 5314321 w 5314321"/>
              <a:gd name="connsiteY4" fmla="*/ 0 h 843538"/>
              <a:gd name="connsiteX5" fmla="*/ 5314321 w 5314321"/>
              <a:gd name="connsiteY5" fmla="*/ 843538 h 843538"/>
              <a:gd name="connsiteX6" fmla="*/ 421769 w 5314321"/>
              <a:gd name="connsiteY6" fmla="*/ 843537 h 843538"/>
              <a:gd name="connsiteX7" fmla="*/ 8569 w 5314321"/>
              <a:gd name="connsiteY7" fmla="*/ 506769 h 843538"/>
              <a:gd name="connsiteX8" fmla="*/ 0 w 5314321"/>
              <a:gd name="connsiteY8" fmla="*/ 421769 h 843538"/>
              <a:gd name="connsiteX9" fmla="*/ 8569 w 5314321"/>
              <a:gd name="connsiteY9" fmla="*/ 336768 h 843538"/>
              <a:gd name="connsiteX10" fmla="*/ 421769 w 5314321"/>
              <a:gd name="connsiteY10" fmla="*/ 0 h 84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14321" h="843538">
                <a:moveTo>
                  <a:pt x="0" y="421768"/>
                </a:moveTo>
                <a:lnTo>
                  <a:pt x="0" y="421769"/>
                </a:lnTo>
                <a:lnTo>
                  <a:pt x="0" y="421769"/>
                </a:lnTo>
                <a:close/>
                <a:moveTo>
                  <a:pt x="421769" y="0"/>
                </a:moveTo>
                <a:lnTo>
                  <a:pt x="5314321" y="0"/>
                </a:lnTo>
                <a:lnTo>
                  <a:pt x="5314321" y="843538"/>
                </a:lnTo>
                <a:lnTo>
                  <a:pt x="421769" y="843537"/>
                </a:lnTo>
                <a:cubicBezTo>
                  <a:pt x="217950" y="843537"/>
                  <a:pt x="47898" y="698963"/>
                  <a:pt x="8569" y="506769"/>
                </a:cubicBezTo>
                <a:lnTo>
                  <a:pt x="0" y="421769"/>
                </a:lnTo>
                <a:lnTo>
                  <a:pt x="8569" y="336768"/>
                </a:lnTo>
                <a:cubicBezTo>
                  <a:pt x="47898" y="144575"/>
                  <a:pt x="217950" y="0"/>
                  <a:pt x="42176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1007999" anchor="ctr" anchorCtr="0">
            <a:noAutofit/>
          </a:bodyPr>
          <a:lstStyle>
            <a:lvl1pPr marL="0" indent="0" algn="l">
              <a:lnSpc>
                <a:spcPts val="1650"/>
              </a:lnSpc>
              <a:buNone/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33" name="Espace réservé du contenu 32">
            <a:extLst>
              <a:ext uri="{FF2B5EF4-FFF2-40B4-BE49-F238E27FC236}">
                <a16:creationId xmlns:a16="http://schemas.microsoft.com/office/drawing/2014/main" id="{2C1D8664-B20A-A14B-9C50-48C0235CB4F4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699869" y="2348083"/>
            <a:ext cx="4444131" cy="632654"/>
          </a:xfrm>
          <a:custGeom>
            <a:avLst/>
            <a:gdLst>
              <a:gd name="connsiteX0" fmla="*/ 0 w 5314321"/>
              <a:gd name="connsiteY0" fmla="*/ 421768 h 843538"/>
              <a:gd name="connsiteX1" fmla="*/ 0 w 5314321"/>
              <a:gd name="connsiteY1" fmla="*/ 421769 h 843538"/>
              <a:gd name="connsiteX2" fmla="*/ 0 w 5314321"/>
              <a:gd name="connsiteY2" fmla="*/ 421769 h 843538"/>
              <a:gd name="connsiteX3" fmla="*/ 421769 w 5314321"/>
              <a:gd name="connsiteY3" fmla="*/ 0 h 843538"/>
              <a:gd name="connsiteX4" fmla="*/ 5314321 w 5314321"/>
              <a:gd name="connsiteY4" fmla="*/ 0 h 843538"/>
              <a:gd name="connsiteX5" fmla="*/ 5314321 w 5314321"/>
              <a:gd name="connsiteY5" fmla="*/ 843538 h 843538"/>
              <a:gd name="connsiteX6" fmla="*/ 421769 w 5314321"/>
              <a:gd name="connsiteY6" fmla="*/ 843537 h 843538"/>
              <a:gd name="connsiteX7" fmla="*/ 8569 w 5314321"/>
              <a:gd name="connsiteY7" fmla="*/ 506769 h 843538"/>
              <a:gd name="connsiteX8" fmla="*/ 0 w 5314321"/>
              <a:gd name="connsiteY8" fmla="*/ 421769 h 843538"/>
              <a:gd name="connsiteX9" fmla="*/ 8569 w 5314321"/>
              <a:gd name="connsiteY9" fmla="*/ 336768 h 843538"/>
              <a:gd name="connsiteX10" fmla="*/ 421769 w 5314321"/>
              <a:gd name="connsiteY10" fmla="*/ 0 h 84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14321" h="843538">
                <a:moveTo>
                  <a:pt x="0" y="421768"/>
                </a:moveTo>
                <a:lnTo>
                  <a:pt x="0" y="421769"/>
                </a:lnTo>
                <a:lnTo>
                  <a:pt x="0" y="421769"/>
                </a:lnTo>
                <a:close/>
                <a:moveTo>
                  <a:pt x="421769" y="0"/>
                </a:moveTo>
                <a:lnTo>
                  <a:pt x="5314321" y="0"/>
                </a:lnTo>
                <a:lnTo>
                  <a:pt x="5314321" y="843538"/>
                </a:lnTo>
                <a:lnTo>
                  <a:pt x="421769" y="843537"/>
                </a:lnTo>
                <a:cubicBezTo>
                  <a:pt x="217950" y="843537"/>
                  <a:pt x="47898" y="698963"/>
                  <a:pt x="8569" y="506769"/>
                </a:cubicBezTo>
                <a:lnTo>
                  <a:pt x="0" y="421769"/>
                </a:lnTo>
                <a:lnTo>
                  <a:pt x="8569" y="336768"/>
                </a:lnTo>
                <a:cubicBezTo>
                  <a:pt x="47898" y="144575"/>
                  <a:pt x="217950" y="0"/>
                  <a:pt x="42176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1007999" anchor="ctr" anchorCtr="0">
            <a:noAutofit/>
          </a:bodyPr>
          <a:lstStyle>
            <a:lvl1pPr marL="0" indent="0" algn="l">
              <a:lnSpc>
                <a:spcPts val="1650"/>
              </a:lnSpc>
              <a:buNone/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35" name="Forme libre 34">
            <a:extLst>
              <a:ext uri="{FF2B5EF4-FFF2-40B4-BE49-F238E27FC236}">
                <a16:creationId xmlns:a16="http://schemas.microsoft.com/office/drawing/2014/main" id="{379A959B-30B1-C24E-944E-AF8C8C56DF20}"/>
              </a:ext>
            </a:extLst>
          </p:cNvPr>
          <p:cNvSpPr/>
          <p:nvPr userDrawn="1"/>
        </p:nvSpPr>
        <p:spPr>
          <a:xfrm rot="18900000">
            <a:off x="5042043" y="2547073"/>
            <a:ext cx="234676" cy="234676"/>
          </a:xfrm>
          <a:custGeom>
            <a:avLst/>
            <a:gdLst>
              <a:gd name="connsiteX0" fmla="*/ 2163652 w 2163778"/>
              <a:gd name="connsiteY0" fmla="*/ 0 h 2163778"/>
              <a:gd name="connsiteX1" fmla="*/ 2163652 w 2163778"/>
              <a:gd name="connsiteY1" fmla="*/ 1910396 h 2163778"/>
              <a:gd name="connsiteX2" fmla="*/ 2163778 w 2163778"/>
              <a:gd name="connsiteY2" fmla="*/ 1910396 h 2163778"/>
              <a:gd name="connsiteX3" fmla="*/ 2163778 w 2163778"/>
              <a:gd name="connsiteY3" fmla="*/ 2163652 h 2163778"/>
              <a:gd name="connsiteX4" fmla="*/ 2163652 w 2163778"/>
              <a:gd name="connsiteY4" fmla="*/ 2163652 h 2163778"/>
              <a:gd name="connsiteX5" fmla="*/ 2163652 w 2163778"/>
              <a:gd name="connsiteY5" fmla="*/ 2163778 h 2163778"/>
              <a:gd name="connsiteX6" fmla="*/ 1910396 w 2163778"/>
              <a:gd name="connsiteY6" fmla="*/ 2163778 h 2163778"/>
              <a:gd name="connsiteX7" fmla="*/ 1910396 w 2163778"/>
              <a:gd name="connsiteY7" fmla="*/ 2163652 h 2163778"/>
              <a:gd name="connsiteX8" fmla="*/ 0 w 2163778"/>
              <a:gd name="connsiteY8" fmla="*/ 2163652 h 2163778"/>
              <a:gd name="connsiteX9" fmla="*/ 0 w 2163778"/>
              <a:gd name="connsiteY9" fmla="*/ 1910396 h 2163778"/>
              <a:gd name="connsiteX10" fmla="*/ 1910396 w 2163778"/>
              <a:gd name="connsiteY10" fmla="*/ 1910396 h 2163778"/>
              <a:gd name="connsiteX11" fmla="*/ 1910396 w 2163778"/>
              <a:gd name="connsiteY11" fmla="*/ 0 h 216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63778" h="2163778">
                <a:moveTo>
                  <a:pt x="2163652" y="0"/>
                </a:moveTo>
                <a:lnTo>
                  <a:pt x="2163652" y="1910396"/>
                </a:lnTo>
                <a:lnTo>
                  <a:pt x="2163778" y="1910396"/>
                </a:lnTo>
                <a:lnTo>
                  <a:pt x="2163778" y="2163652"/>
                </a:lnTo>
                <a:lnTo>
                  <a:pt x="2163652" y="2163652"/>
                </a:lnTo>
                <a:lnTo>
                  <a:pt x="2163652" y="2163778"/>
                </a:lnTo>
                <a:lnTo>
                  <a:pt x="1910396" y="2163778"/>
                </a:lnTo>
                <a:lnTo>
                  <a:pt x="1910396" y="2163652"/>
                </a:lnTo>
                <a:lnTo>
                  <a:pt x="0" y="2163652"/>
                </a:lnTo>
                <a:lnTo>
                  <a:pt x="0" y="1910396"/>
                </a:lnTo>
                <a:lnTo>
                  <a:pt x="1910396" y="1910396"/>
                </a:lnTo>
                <a:lnTo>
                  <a:pt x="191039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7" name="Espace réservé du contenu 36">
            <a:extLst>
              <a:ext uri="{FF2B5EF4-FFF2-40B4-BE49-F238E27FC236}">
                <a16:creationId xmlns:a16="http://schemas.microsoft.com/office/drawing/2014/main" id="{4EE9E2AF-CB0A-1C46-AF2B-9F721988A76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699869" y="3166719"/>
            <a:ext cx="4444131" cy="632654"/>
          </a:xfrm>
          <a:custGeom>
            <a:avLst/>
            <a:gdLst>
              <a:gd name="connsiteX0" fmla="*/ 0 w 5314321"/>
              <a:gd name="connsiteY0" fmla="*/ 421768 h 843538"/>
              <a:gd name="connsiteX1" fmla="*/ 0 w 5314321"/>
              <a:gd name="connsiteY1" fmla="*/ 421769 h 843538"/>
              <a:gd name="connsiteX2" fmla="*/ 0 w 5314321"/>
              <a:gd name="connsiteY2" fmla="*/ 421769 h 843538"/>
              <a:gd name="connsiteX3" fmla="*/ 421769 w 5314321"/>
              <a:gd name="connsiteY3" fmla="*/ 0 h 843538"/>
              <a:gd name="connsiteX4" fmla="*/ 5314321 w 5314321"/>
              <a:gd name="connsiteY4" fmla="*/ 0 h 843538"/>
              <a:gd name="connsiteX5" fmla="*/ 5314321 w 5314321"/>
              <a:gd name="connsiteY5" fmla="*/ 843538 h 843538"/>
              <a:gd name="connsiteX6" fmla="*/ 421769 w 5314321"/>
              <a:gd name="connsiteY6" fmla="*/ 843537 h 843538"/>
              <a:gd name="connsiteX7" fmla="*/ 8569 w 5314321"/>
              <a:gd name="connsiteY7" fmla="*/ 506769 h 843538"/>
              <a:gd name="connsiteX8" fmla="*/ 0 w 5314321"/>
              <a:gd name="connsiteY8" fmla="*/ 421769 h 843538"/>
              <a:gd name="connsiteX9" fmla="*/ 8569 w 5314321"/>
              <a:gd name="connsiteY9" fmla="*/ 336768 h 843538"/>
              <a:gd name="connsiteX10" fmla="*/ 421769 w 5314321"/>
              <a:gd name="connsiteY10" fmla="*/ 0 h 84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14321" h="843538">
                <a:moveTo>
                  <a:pt x="0" y="421768"/>
                </a:moveTo>
                <a:lnTo>
                  <a:pt x="0" y="421769"/>
                </a:lnTo>
                <a:lnTo>
                  <a:pt x="0" y="421769"/>
                </a:lnTo>
                <a:close/>
                <a:moveTo>
                  <a:pt x="421769" y="0"/>
                </a:moveTo>
                <a:lnTo>
                  <a:pt x="5314321" y="0"/>
                </a:lnTo>
                <a:lnTo>
                  <a:pt x="5314321" y="843538"/>
                </a:lnTo>
                <a:lnTo>
                  <a:pt x="421769" y="843537"/>
                </a:lnTo>
                <a:cubicBezTo>
                  <a:pt x="217950" y="843537"/>
                  <a:pt x="47898" y="698963"/>
                  <a:pt x="8569" y="506769"/>
                </a:cubicBezTo>
                <a:lnTo>
                  <a:pt x="0" y="421769"/>
                </a:lnTo>
                <a:lnTo>
                  <a:pt x="8569" y="336768"/>
                </a:lnTo>
                <a:cubicBezTo>
                  <a:pt x="47898" y="144575"/>
                  <a:pt x="217950" y="0"/>
                  <a:pt x="42176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1007999" anchor="ctr" anchorCtr="0">
            <a:noAutofit/>
          </a:bodyPr>
          <a:lstStyle>
            <a:lvl1pPr marL="0" indent="0" algn="l">
              <a:lnSpc>
                <a:spcPts val="1650"/>
              </a:lnSpc>
              <a:buNone/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5pPr algn="ctr">
              <a:defRPr b="1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endParaRPr lang="fr-FR" dirty="0"/>
          </a:p>
        </p:txBody>
      </p:sp>
      <p:sp>
        <p:nvSpPr>
          <p:cNvPr id="39" name="Forme libre 38">
            <a:extLst>
              <a:ext uri="{FF2B5EF4-FFF2-40B4-BE49-F238E27FC236}">
                <a16:creationId xmlns:a16="http://schemas.microsoft.com/office/drawing/2014/main" id="{635A6D6C-8398-FD41-9338-357E85FCA3FB}"/>
              </a:ext>
            </a:extLst>
          </p:cNvPr>
          <p:cNvSpPr/>
          <p:nvPr userDrawn="1"/>
        </p:nvSpPr>
        <p:spPr>
          <a:xfrm rot="18900000">
            <a:off x="5042043" y="3365709"/>
            <a:ext cx="234676" cy="234676"/>
          </a:xfrm>
          <a:custGeom>
            <a:avLst/>
            <a:gdLst>
              <a:gd name="connsiteX0" fmla="*/ 2163652 w 2163778"/>
              <a:gd name="connsiteY0" fmla="*/ 0 h 2163778"/>
              <a:gd name="connsiteX1" fmla="*/ 2163652 w 2163778"/>
              <a:gd name="connsiteY1" fmla="*/ 1910396 h 2163778"/>
              <a:gd name="connsiteX2" fmla="*/ 2163778 w 2163778"/>
              <a:gd name="connsiteY2" fmla="*/ 1910396 h 2163778"/>
              <a:gd name="connsiteX3" fmla="*/ 2163778 w 2163778"/>
              <a:gd name="connsiteY3" fmla="*/ 2163652 h 2163778"/>
              <a:gd name="connsiteX4" fmla="*/ 2163652 w 2163778"/>
              <a:gd name="connsiteY4" fmla="*/ 2163652 h 2163778"/>
              <a:gd name="connsiteX5" fmla="*/ 2163652 w 2163778"/>
              <a:gd name="connsiteY5" fmla="*/ 2163778 h 2163778"/>
              <a:gd name="connsiteX6" fmla="*/ 1910396 w 2163778"/>
              <a:gd name="connsiteY6" fmla="*/ 2163778 h 2163778"/>
              <a:gd name="connsiteX7" fmla="*/ 1910396 w 2163778"/>
              <a:gd name="connsiteY7" fmla="*/ 2163652 h 2163778"/>
              <a:gd name="connsiteX8" fmla="*/ 0 w 2163778"/>
              <a:gd name="connsiteY8" fmla="*/ 2163652 h 2163778"/>
              <a:gd name="connsiteX9" fmla="*/ 0 w 2163778"/>
              <a:gd name="connsiteY9" fmla="*/ 1910396 h 2163778"/>
              <a:gd name="connsiteX10" fmla="*/ 1910396 w 2163778"/>
              <a:gd name="connsiteY10" fmla="*/ 1910396 h 2163778"/>
              <a:gd name="connsiteX11" fmla="*/ 1910396 w 2163778"/>
              <a:gd name="connsiteY11" fmla="*/ 0 h 216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63778" h="2163778">
                <a:moveTo>
                  <a:pt x="2163652" y="0"/>
                </a:moveTo>
                <a:lnTo>
                  <a:pt x="2163652" y="1910396"/>
                </a:lnTo>
                <a:lnTo>
                  <a:pt x="2163778" y="1910396"/>
                </a:lnTo>
                <a:lnTo>
                  <a:pt x="2163778" y="2163652"/>
                </a:lnTo>
                <a:lnTo>
                  <a:pt x="2163652" y="2163652"/>
                </a:lnTo>
                <a:lnTo>
                  <a:pt x="2163652" y="2163778"/>
                </a:lnTo>
                <a:lnTo>
                  <a:pt x="1910396" y="2163778"/>
                </a:lnTo>
                <a:lnTo>
                  <a:pt x="1910396" y="2163652"/>
                </a:lnTo>
                <a:lnTo>
                  <a:pt x="0" y="2163652"/>
                </a:lnTo>
                <a:lnTo>
                  <a:pt x="0" y="1910396"/>
                </a:lnTo>
                <a:lnTo>
                  <a:pt x="1910396" y="1910396"/>
                </a:lnTo>
                <a:lnTo>
                  <a:pt x="191039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1" name="Forme libre 30">
            <a:extLst>
              <a:ext uri="{FF2B5EF4-FFF2-40B4-BE49-F238E27FC236}">
                <a16:creationId xmlns:a16="http://schemas.microsoft.com/office/drawing/2014/main" id="{384F2333-9CCD-414A-865E-9B12A8B4FE17}"/>
              </a:ext>
            </a:extLst>
          </p:cNvPr>
          <p:cNvSpPr/>
          <p:nvPr userDrawn="1"/>
        </p:nvSpPr>
        <p:spPr>
          <a:xfrm rot="18900000">
            <a:off x="5042043" y="1728437"/>
            <a:ext cx="234676" cy="234676"/>
          </a:xfrm>
          <a:custGeom>
            <a:avLst/>
            <a:gdLst>
              <a:gd name="connsiteX0" fmla="*/ 2163652 w 2163778"/>
              <a:gd name="connsiteY0" fmla="*/ 0 h 2163778"/>
              <a:gd name="connsiteX1" fmla="*/ 2163652 w 2163778"/>
              <a:gd name="connsiteY1" fmla="*/ 1910396 h 2163778"/>
              <a:gd name="connsiteX2" fmla="*/ 2163778 w 2163778"/>
              <a:gd name="connsiteY2" fmla="*/ 1910396 h 2163778"/>
              <a:gd name="connsiteX3" fmla="*/ 2163778 w 2163778"/>
              <a:gd name="connsiteY3" fmla="*/ 2163652 h 2163778"/>
              <a:gd name="connsiteX4" fmla="*/ 2163652 w 2163778"/>
              <a:gd name="connsiteY4" fmla="*/ 2163652 h 2163778"/>
              <a:gd name="connsiteX5" fmla="*/ 2163652 w 2163778"/>
              <a:gd name="connsiteY5" fmla="*/ 2163778 h 2163778"/>
              <a:gd name="connsiteX6" fmla="*/ 1910396 w 2163778"/>
              <a:gd name="connsiteY6" fmla="*/ 2163778 h 2163778"/>
              <a:gd name="connsiteX7" fmla="*/ 1910396 w 2163778"/>
              <a:gd name="connsiteY7" fmla="*/ 2163652 h 2163778"/>
              <a:gd name="connsiteX8" fmla="*/ 0 w 2163778"/>
              <a:gd name="connsiteY8" fmla="*/ 2163652 h 2163778"/>
              <a:gd name="connsiteX9" fmla="*/ 0 w 2163778"/>
              <a:gd name="connsiteY9" fmla="*/ 1910396 h 2163778"/>
              <a:gd name="connsiteX10" fmla="*/ 1910396 w 2163778"/>
              <a:gd name="connsiteY10" fmla="*/ 1910396 h 2163778"/>
              <a:gd name="connsiteX11" fmla="*/ 1910396 w 2163778"/>
              <a:gd name="connsiteY11" fmla="*/ 0 h 216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63778" h="2163778">
                <a:moveTo>
                  <a:pt x="2163652" y="0"/>
                </a:moveTo>
                <a:lnTo>
                  <a:pt x="2163652" y="1910396"/>
                </a:lnTo>
                <a:lnTo>
                  <a:pt x="2163778" y="1910396"/>
                </a:lnTo>
                <a:lnTo>
                  <a:pt x="2163778" y="2163652"/>
                </a:lnTo>
                <a:lnTo>
                  <a:pt x="2163652" y="2163652"/>
                </a:lnTo>
                <a:lnTo>
                  <a:pt x="2163652" y="2163778"/>
                </a:lnTo>
                <a:lnTo>
                  <a:pt x="1910396" y="2163778"/>
                </a:lnTo>
                <a:lnTo>
                  <a:pt x="1910396" y="2163652"/>
                </a:lnTo>
                <a:lnTo>
                  <a:pt x="0" y="2163652"/>
                </a:lnTo>
                <a:lnTo>
                  <a:pt x="0" y="1910396"/>
                </a:lnTo>
                <a:lnTo>
                  <a:pt x="1910396" y="1910396"/>
                </a:lnTo>
                <a:lnTo>
                  <a:pt x="191039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F3B9AF0-9594-AD47-B173-9C69553527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91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B23183-E551-954D-8EEC-A119D0B2FE34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22" name="Espace réservé pour une image  2">
            <a:extLst>
              <a:ext uri="{FF2B5EF4-FFF2-40B4-BE49-F238E27FC236}">
                <a16:creationId xmlns:a16="http://schemas.microsoft.com/office/drawing/2014/main" id="{92EAFF21-E0B0-CC42-BDF2-D87A09446BD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572000" y="265928"/>
            <a:ext cx="4572000" cy="456065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975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/>
              <a:t>Visual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E00134A-FF32-4148-A10E-6EBB70654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17" y="442846"/>
            <a:ext cx="3968618" cy="584001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err="1"/>
              <a:t>Title</a:t>
            </a:r>
            <a:r>
              <a:rPr lang="fr-FR" dirty="0"/>
              <a:t> slide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(Century Gothic 26 pt)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C573D3CB-6F51-B64E-8E88-7F18FCF6B1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7916" y="1572016"/>
            <a:ext cx="3968618" cy="26402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650"/>
              </a:lnSpc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</a:t>
            </a:r>
          </a:p>
          <a:p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</a:t>
            </a:r>
          </a:p>
          <a:p>
            <a:endParaRPr lang="fr-FR" dirty="0"/>
          </a:p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</a:t>
            </a:r>
          </a:p>
          <a:p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</a:t>
            </a:r>
          </a:p>
          <a:p>
            <a:endParaRPr lang="fr-FR" dirty="0"/>
          </a:p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</a:t>
            </a:r>
          </a:p>
          <a:p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</a:t>
            </a:r>
          </a:p>
          <a:p>
            <a:endParaRPr lang="fr-FR" dirty="0"/>
          </a:p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</a:t>
            </a:r>
          </a:p>
          <a:p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</a:t>
            </a:r>
          </a:p>
          <a:p>
            <a:endParaRPr lang="fr-FR" dirty="0"/>
          </a:p>
        </p:txBody>
      </p:sp>
      <p:sp>
        <p:nvSpPr>
          <p:cNvPr id="41" name="Espace réservé du contenu 40">
            <a:extLst>
              <a:ext uri="{FF2B5EF4-FFF2-40B4-BE49-F238E27FC236}">
                <a16:creationId xmlns:a16="http://schemas.microsoft.com/office/drawing/2014/main" id="{37E9F77B-47AC-094C-954D-9FD32172B30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72000" y="1385500"/>
            <a:ext cx="2306701" cy="3175154"/>
          </a:xfrm>
          <a:custGeom>
            <a:avLst/>
            <a:gdLst>
              <a:gd name="connsiteX0" fmla="*/ 0 w 3075601"/>
              <a:gd name="connsiteY0" fmla="*/ 0 h 4233538"/>
              <a:gd name="connsiteX1" fmla="*/ 1485703 w 3075601"/>
              <a:gd name="connsiteY1" fmla="*/ 0 h 4233538"/>
              <a:gd name="connsiteX2" fmla="*/ 3075601 w 3075601"/>
              <a:gd name="connsiteY2" fmla="*/ 1589898 h 4233538"/>
              <a:gd name="connsiteX3" fmla="*/ 3075601 w 3075601"/>
              <a:gd name="connsiteY3" fmla="*/ 4233538 h 4233538"/>
              <a:gd name="connsiteX4" fmla="*/ 0 w 3075601"/>
              <a:gd name="connsiteY4" fmla="*/ 4233538 h 423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5601" h="4233538">
                <a:moveTo>
                  <a:pt x="0" y="0"/>
                </a:moveTo>
                <a:lnTo>
                  <a:pt x="1485703" y="0"/>
                </a:lnTo>
                <a:cubicBezTo>
                  <a:pt x="2363779" y="0"/>
                  <a:pt x="3075601" y="711822"/>
                  <a:pt x="3075601" y="1589898"/>
                </a:cubicBezTo>
                <a:lnTo>
                  <a:pt x="3075601" y="4233538"/>
                </a:lnTo>
                <a:lnTo>
                  <a:pt x="0" y="423353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32000" tIns="720000" rIns="576000" anchor="t" anchorCtr="0">
            <a:noAutofit/>
          </a:bodyPr>
          <a:lstStyle>
            <a:lvl1pPr marL="0" indent="0" algn="l">
              <a:lnSpc>
                <a:spcPts val="1650"/>
              </a:lnSpc>
              <a:spcBef>
                <a:spcPts val="0"/>
              </a:spcBef>
              <a:buFontTx/>
              <a:buNone/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</a:t>
            </a:r>
            <a:br>
              <a:rPr lang="fr-FR" dirty="0"/>
            </a:br>
            <a:r>
              <a:rPr lang="fr-FR" dirty="0"/>
              <a:t>tuer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</a:t>
            </a:r>
            <a:br>
              <a:rPr lang="fr-FR" dirty="0"/>
            </a:b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</a:t>
            </a:r>
            <a:br>
              <a:rPr lang="fr-FR" dirty="0"/>
            </a:br>
            <a:r>
              <a:rPr lang="fr-FR" dirty="0" err="1"/>
              <a:t>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E990867-D081-064B-B424-C2BE405F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50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f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82DCC05-9DFF-AA4E-AFA9-3D1A2B13D6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6608" y="1344593"/>
            <a:ext cx="2543872" cy="254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670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9462FF04-4FC6-4EBD-BF47-3CA4F26F21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783017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47" imgH="348" progId="TCLayout.ActiveDocument.1">
                  <p:embed/>
                </p:oleObj>
              </mc:Choice>
              <mc:Fallback>
                <p:oleObj name="Слайд think-cell" r:id="rId3" imgW="347" imgH="348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9462FF04-4FC6-4EBD-BF47-3CA4F26F21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9267B667-7FDD-4BAF-96B2-372012A40204}"/>
              </a:ext>
            </a:extLst>
          </p:cNvPr>
          <p:cNvGrpSpPr/>
          <p:nvPr userDrawn="1"/>
        </p:nvGrpSpPr>
        <p:grpSpPr>
          <a:xfrm>
            <a:off x="0" y="1"/>
            <a:ext cx="9144000" cy="5143500"/>
            <a:chOff x="0" y="2"/>
            <a:chExt cx="12192000" cy="6845297"/>
          </a:xfrm>
        </p:grpSpPr>
        <p:sp>
          <p:nvSpPr>
            <p:cNvPr id="29" name="Forme libre 10">
              <a:extLst>
                <a:ext uri="{FF2B5EF4-FFF2-40B4-BE49-F238E27FC236}">
                  <a16:creationId xmlns:a16="http://schemas.microsoft.com/office/drawing/2014/main" id="{16EDDE77-3FB2-41B3-9E7F-6AC07BC05245}"/>
                </a:ext>
              </a:extLst>
            </p:cNvPr>
            <p:cNvSpPr/>
            <p:nvPr userDrawn="1"/>
          </p:nvSpPr>
          <p:spPr>
            <a:xfrm>
              <a:off x="1235075" y="2"/>
              <a:ext cx="5494236" cy="5461251"/>
            </a:xfrm>
            <a:custGeom>
              <a:avLst/>
              <a:gdLst>
                <a:gd name="connsiteX0" fmla="*/ 3533858 w 5494236"/>
                <a:gd name="connsiteY0" fmla="*/ 0 h 5461251"/>
                <a:gd name="connsiteX1" fmla="*/ 5492795 w 5494236"/>
                <a:gd name="connsiteY1" fmla="*/ 0 h 5461251"/>
                <a:gd name="connsiteX2" fmla="*/ 5494236 w 5494236"/>
                <a:gd name="connsiteY2" fmla="*/ 56984 h 5461251"/>
                <a:gd name="connsiteX3" fmla="*/ 89969 w 5494236"/>
                <a:gd name="connsiteY3" fmla="*/ 5461251 h 5461251"/>
                <a:gd name="connsiteX4" fmla="*/ 0 w 5494236"/>
                <a:gd name="connsiteY4" fmla="*/ 5458976 h 5461251"/>
                <a:gd name="connsiteX5" fmla="*/ 0 w 5494236"/>
                <a:gd name="connsiteY5" fmla="*/ 3500039 h 5461251"/>
                <a:gd name="connsiteX6" fmla="*/ 89970 w 5494236"/>
                <a:gd name="connsiteY6" fmla="*/ 3502314 h 5461251"/>
                <a:gd name="connsiteX7" fmla="*/ 3535299 w 5494236"/>
                <a:gd name="connsiteY7" fmla="*/ 56985 h 546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94236" h="5461251">
                  <a:moveTo>
                    <a:pt x="3533858" y="0"/>
                  </a:moveTo>
                  <a:lnTo>
                    <a:pt x="5492795" y="0"/>
                  </a:lnTo>
                  <a:lnTo>
                    <a:pt x="5494236" y="56984"/>
                  </a:lnTo>
                  <a:cubicBezTo>
                    <a:pt x="5494236" y="3041678"/>
                    <a:pt x="3074663" y="5461251"/>
                    <a:pt x="89969" y="5461251"/>
                  </a:cubicBezTo>
                  <a:lnTo>
                    <a:pt x="0" y="5458976"/>
                  </a:lnTo>
                  <a:lnTo>
                    <a:pt x="0" y="3500039"/>
                  </a:lnTo>
                  <a:lnTo>
                    <a:pt x="89970" y="3502314"/>
                  </a:lnTo>
                  <a:cubicBezTo>
                    <a:pt x="1992773" y="3502314"/>
                    <a:pt x="3535299" y="1959788"/>
                    <a:pt x="3535299" y="56985"/>
                  </a:cubicBezTo>
                  <a:close/>
                </a:path>
              </a:pathLst>
            </a:custGeom>
            <a:solidFill>
              <a:srgbClr val="D3DEF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3AD5B6F8-4EE2-4B9D-A429-BC46B1E2F99A}"/>
                </a:ext>
              </a:extLst>
            </p:cNvPr>
            <p:cNvSpPr/>
            <p:nvPr userDrawn="1"/>
          </p:nvSpPr>
          <p:spPr>
            <a:xfrm>
              <a:off x="0" y="6057900"/>
              <a:ext cx="12192000" cy="787399"/>
            </a:xfrm>
            <a:prstGeom prst="rect">
              <a:avLst/>
            </a:prstGeom>
            <a:solidFill>
              <a:srgbClr val="F3F7F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33" name="Image 14">
              <a:extLst>
                <a:ext uri="{FF2B5EF4-FFF2-40B4-BE49-F238E27FC236}">
                  <a16:creationId xmlns:a16="http://schemas.microsoft.com/office/drawing/2014/main" id="{65BCB147-D12C-4DE2-B331-48521E41E4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0356850" y="6250322"/>
              <a:ext cx="1319260" cy="41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5003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e libre 10">
            <a:extLst>
              <a:ext uri="{FF2B5EF4-FFF2-40B4-BE49-F238E27FC236}">
                <a16:creationId xmlns:a16="http://schemas.microsoft.com/office/drawing/2014/main" id="{771D75BF-7A6F-BE42-ACAC-003607FCD76F}"/>
              </a:ext>
            </a:extLst>
          </p:cNvPr>
          <p:cNvSpPr/>
          <p:nvPr userDrawn="1"/>
        </p:nvSpPr>
        <p:spPr>
          <a:xfrm>
            <a:off x="926306" y="2"/>
            <a:ext cx="4120677" cy="4095938"/>
          </a:xfrm>
          <a:custGeom>
            <a:avLst/>
            <a:gdLst>
              <a:gd name="connsiteX0" fmla="*/ 3533858 w 5494236"/>
              <a:gd name="connsiteY0" fmla="*/ 0 h 5461251"/>
              <a:gd name="connsiteX1" fmla="*/ 5492795 w 5494236"/>
              <a:gd name="connsiteY1" fmla="*/ 0 h 5461251"/>
              <a:gd name="connsiteX2" fmla="*/ 5494236 w 5494236"/>
              <a:gd name="connsiteY2" fmla="*/ 56984 h 5461251"/>
              <a:gd name="connsiteX3" fmla="*/ 89969 w 5494236"/>
              <a:gd name="connsiteY3" fmla="*/ 5461251 h 5461251"/>
              <a:gd name="connsiteX4" fmla="*/ 0 w 5494236"/>
              <a:gd name="connsiteY4" fmla="*/ 5458976 h 5461251"/>
              <a:gd name="connsiteX5" fmla="*/ 0 w 5494236"/>
              <a:gd name="connsiteY5" fmla="*/ 3500039 h 5461251"/>
              <a:gd name="connsiteX6" fmla="*/ 89970 w 5494236"/>
              <a:gd name="connsiteY6" fmla="*/ 3502314 h 5461251"/>
              <a:gd name="connsiteX7" fmla="*/ 3535299 w 5494236"/>
              <a:gd name="connsiteY7" fmla="*/ 56985 h 546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4236" h="5461251">
                <a:moveTo>
                  <a:pt x="3533858" y="0"/>
                </a:moveTo>
                <a:lnTo>
                  <a:pt x="5492795" y="0"/>
                </a:lnTo>
                <a:lnTo>
                  <a:pt x="5494236" y="56984"/>
                </a:lnTo>
                <a:cubicBezTo>
                  <a:pt x="5494236" y="3041678"/>
                  <a:pt x="3074663" y="5461251"/>
                  <a:pt x="89969" y="5461251"/>
                </a:cubicBezTo>
                <a:lnTo>
                  <a:pt x="0" y="5458976"/>
                </a:lnTo>
                <a:lnTo>
                  <a:pt x="0" y="3500039"/>
                </a:lnTo>
                <a:lnTo>
                  <a:pt x="89970" y="3502314"/>
                </a:lnTo>
                <a:cubicBezTo>
                  <a:pt x="1992773" y="3502314"/>
                  <a:pt x="3535299" y="1959788"/>
                  <a:pt x="3535299" y="5698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B7D4B-25AB-3B40-9FA9-856250EFE26C}"/>
              </a:ext>
            </a:extLst>
          </p:cNvPr>
          <p:cNvSpPr/>
          <p:nvPr userDrawn="1"/>
        </p:nvSpPr>
        <p:spPr>
          <a:xfrm>
            <a:off x="0" y="4560655"/>
            <a:ext cx="9144000" cy="590549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3E7A38-3062-BC49-A536-E78E413D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/>
              <a:t>Footer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90302B-71B2-D643-89C5-EA6AB80F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75B2-1F5F-104D-81CC-0E99E60AEADE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F9B6917-3135-5543-BB21-7EE5160354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6307" y="698923"/>
            <a:ext cx="7856935" cy="1662467"/>
          </a:xfrm>
        </p:spPr>
        <p:txBody>
          <a:bodyPr anchor="t" anchorCtr="0"/>
          <a:lstStyle>
            <a:lvl1pPr algn="l">
              <a:lnSpc>
                <a:spcPts val="3900"/>
              </a:lnSpc>
              <a:defRPr sz="3075">
                <a:solidFill>
                  <a:schemeClr val="accent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in few </a:t>
            </a:r>
            <a:r>
              <a:rPr lang="fr-FR" dirty="0" err="1"/>
              <a:t>lines</a:t>
            </a:r>
            <a:r>
              <a:rPr lang="fr-FR" dirty="0"/>
              <a:t> (Century Gothic 41 pt)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746828C2-E0B2-C841-B815-1229645D7E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307" y="2854118"/>
            <a:ext cx="7856935" cy="12418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 err="1"/>
              <a:t>Subtitle</a:t>
            </a:r>
            <a:r>
              <a:rPr lang="fr-FR" dirty="0"/>
              <a:t> in one or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(Century Gothic 24 pt)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77DD647-82ED-0748-938D-2AD451547B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7638" y="4687742"/>
            <a:ext cx="989445" cy="30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0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75D91FB-C3B1-E947-8875-617A24F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306" y="565463"/>
            <a:ext cx="7749779" cy="584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br>
              <a:rPr lang="fr-FR" dirty="0"/>
            </a:br>
            <a:r>
              <a:rPr lang="fr-FR" dirty="0"/>
              <a:t>in few </a:t>
            </a:r>
            <a:r>
              <a:rPr lang="fr-FR" dirty="0" err="1"/>
              <a:t>lines</a:t>
            </a:r>
            <a:r>
              <a:rPr lang="fr-FR" dirty="0"/>
              <a:t> (Century Gothic Bold 32 pt)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CD5419-8635-6746-8267-5797256E5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306" y="1369219"/>
            <a:ext cx="7749779" cy="31795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fr-FR" dirty="0" err="1"/>
              <a:t>Level</a:t>
            </a:r>
            <a:r>
              <a:rPr lang="fr-FR" dirty="0"/>
              <a:t> 1 </a:t>
            </a:r>
            <a:r>
              <a:rPr lang="fr-FR" dirty="0" err="1"/>
              <a:t>with</a:t>
            </a:r>
            <a:r>
              <a:rPr lang="fr-FR" dirty="0"/>
              <a:t> round </a:t>
            </a:r>
            <a:r>
              <a:rPr lang="fr-FR" dirty="0" err="1"/>
              <a:t>bullet</a:t>
            </a:r>
            <a:r>
              <a:rPr lang="fr-FR" dirty="0"/>
              <a:t> point </a:t>
            </a:r>
            <a:br>
              <a:rPr lang="fr-FR" dirty="0"/>
            </a:br>
            <a:r>
              <a:rPr lang="fr-FR" dirty="0"/>
              <a:t>(Century Gothic 20 pt)</a:t>
            </a:r>
          </a:p>
          <a:p>
            <a:pPr lvl="1"/>
            <a:r>
              <a:rPr lang="fr-FR" dirty="0" err="1"/>
              <a:t>Level</a:t>
            </a:r>
            <a:r>
              <a:rPr lang="fr-FR" dirty="0"/>
              <a:t> 2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dash</a:t>
            </a:r>
            <a:r>
              <a:rPr lang="fr-FR" dirty="0"/>
              <a:t> </a:t>
            </a:r>
            <a:r>
              <a:rPr lang="fr-FR" dirty="0" err="1"/>
              <a:t>bullet</a:t>
            </a:r>
            <a:r>
              <a:rPr lang="fr-FR" dirty="0"/>
              <a:t> point (Century Gothic 18 pt) </a:t>
            </a:r>
          </a:p>
          <a:p>
            <a:pPr lvl="2"/>
            <a:r>
              <a:rPr lang="fr-FR" dirty="0" err="1"/>
              <a:t>Level</a:t>
            </a:r>
            <a:r>
              <a:rPr lang="fr-FR" dirty="0"/>
              <a:t> 3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roubd</a:t>
            </a:r>
            <a:r>
              <a:rPr lang="fr-FR" dirty="0"/>
              <a:t> </a:t>
            </a:r>
            <a:r>
              <a:rPr lang="fr-FR" dirty="0" err="1"/>
              <a:t>bullet</a:t>
            </a:r>
            <a:r>
              <a:rPr lang="fr-FR" dirty="0"/>
              <a:t> point (</a:t>
            </a:r>
            <a:r>
              <a:rPr lang="fr-FR" dirty="0" err="1"/>
              <a:t>century</a:t>
            </a:r>
            <a:r>
              <a:rPr lang="fr-FR" dirty="0"/>
              <a:t> Gothic 16 pt)</a:t>
            </a:r>
          </a:p>
          <a:p>
            <a:pPr lvl="3"/>
            <a:r>
              <a:rPr lang="fr-FR" dirty="0" err="1"/>
              <a:t>Level</a:t>
            </a:r>
            <a:r>
              <a:rPr lang="fr-FR" dirty="0"/>
              <a:t> 4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dash</a:t>
            </a:r>
            <a:r>
              <a:rPr lang="fr-FR" dirty="0"/>
              <a:t> </a:t>
            </a:r>
            <a:r>
              <a:rPr lang="fr-FR" dirty="0" err="1"/>
              <a:t>bullet</a:t>
            </a:r>
            <a:r>
              <a:rPr lang="fr-FR" dirty="0"/>
              <a:t> point (Century Gothic 14 pt)</a:t>
            </a:r>
          </a:p>
          <a:p>
            <a:pPr lvl="4"/>
            <a:r>
              <a:rPr lang="fr-FR" dirty="0"/>
              <a:t>Body </a:t>
            </a:r>
            <a:r>
              <a:rPr lang="fr-FR" dirty="0" err="1"/>
              <a:t>text</a:t>
            </a:r>
            <a:r>
              <a:rPr lang="fr-FR" dirty="0"/>
              <a:t> (Century Gothic 12 pt)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10B9B7-1681-AC45-B161-655CBDE4B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1531" y="4714245"/>
            <a:ext cx="30861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Footer of your 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44D1E6-A1FF-9A49-BD7C-267FB60C1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7916" y="4719008"/>
            <a:ext cx="308967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51E75B2-1F5F-104D-81CC-0E99E60AEADE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936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801" r:id="rId13"/>
  </p:sldLayoutIdLst>
  <p:hf hdr="0"/>
  <p:txStyles>
    <p:titleStyle>
      <a:lvl1pPr algn="l" defTabSz="685800" rtl="0" eaLnBrk="1" latinLnBrk="0" hangingPunct="1">
        <a:lnSpc>
          <a:spcPts val="2400"/>
        </a:lnSpc>
        <a:spcBef>
          <a:spcPct val="0"/>
        </a:spcBef>
        <a:buNone/>
        <a:defRPr sz="1950" b="1" i="0" kern="1200">
          <a:solidFill>
            <a:schemeClr val="accent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162000" indent="-162000" algn="l" defTabSz="685800" rtl="0" eaLnBrk="1" latinLnBrk="0" hangingPunct="1">
        <a:lnSpc>
          <a:spcPct val="100000"/>
        </a:lnSpc>
        <a:spcBef>
          <a:spcPts val="450"/>
        </a:spcBef>
        <a:buSzPct val="90000"/>
        <a:buFont typeface="Arial" panose="020B0604020202020204" pitchFamily="34" charset="0"/>
        <a:buChar char="•"/>
        <a:defRPr sz="150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1pPr>
      <a:lvl2pPr marL="297000" indent="-135000" algn="l" defTabSz="685800" rtl="0" eaLnBrk="1" latinLnBrk="0" hangingPunct="1">
        <a:lnSpc>
          <a:spcPct val="100000"/>
        </a:lnSpc>
        <a:spcBef>
          <a:spcPts val="300"/>
        </a:spcBef>
        <a:buSzPct val="120000"/>
        <a:buFont typeface="Police système"/>
        <a:buChar char="-"/>
        <a:defRPr sz="135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2pPr>
      <a:lvl3pPr marL="432000" indent="-135000" algn="l" defTabSz="685800" rtl="0" eaLnBrk="1" latinLnBrk="0" hangingPunct="1">
        <a:lnSpc>
          <a:spcPts val="1650"/>
        </a:lnSpc>
        <a:spcBef>
          <a:spcPts val="0"/>
        </a:spcBef>
        <a:buSzPct val="90000"/>
        <a:buFont typeface="Arial" panose="020B0604020202020204" pitchFamily="34" charset="0"/>
        <a:buChar char="•"/>
        <a:defRPr sz="120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3pPr>
      <a:lvl4pPr marL="540000" indent="-108000" algn="l" defTabSz="685800" rtl="0" eaLnBrk="1" latinLnBrk="0" hangingPunct="1">
        <a:lnSpc>
          <a:spcPts val="1500"/>
        </a:lnSpc>
        <a:spcBef>
          <a:spcPts val="0"/>
        </a:spcBef>
        <a:buSzPct val="120000"/>
        <a:buFont typeface="Police système"/>
        <a:buChar char="-"/>
        <a:defRPr sz="105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4pPr>
      <a:lvl5pPr marL="540000" indent="0" algn="l" defTabSz="685800" rtl="0" eaLnBrk="1" latinLnBrk="0" hangingPunct="1">
        <a:lnSpc>
          <a:spcPts val="1500"/>
        </a:lnSpc>
        <a:spcBef>
          <a:spcPts val="0"/>
        </a:spcBef>
        <a:buFont typeface="Arial" panose="020B0604020202020204" pitchFamily="34" charset="0"/>
        <a:buNone/>
        <a:defRPr sz="90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4">
          <p15:clr>
            <a:srgbClr val="F26B43"/>
          </p15:clr>
        </p15:guide>
        <p15:guide id="2" orient="horz" pos="3929">
          <p15:clr>
            <a:srgbClr val="F26B43"/>
          </p15:clr>
        </p15:guide>
        <p15:guide id="3" pos="393">
          <p15:clr>
            <a:srgbClr val="F26B43"/>
          </p15:clr>
        </p15:guide>
        <p15:guide id="4" pos="7287">
          <p15:clr>
            <a:srgbClr val="F26B43"/>
          </p15:clr>
        </p15:guide>
        <p15:guide id="5" pos="778">
          <p15:clr>
            <a:srgbClr val="F26B43"/>
          </p15:clr>
        </p15:guide>
        <p15:guide id="6" orient="horz" pos="4110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3816">
          <p15:clr>
            <a:srgbClr val="F26B43"/>
          </p15:clr>
        </p15:guide>
        <p15:guide id="9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75D91FB-C3B1-E947-8875-617A24F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306" y="565463"/>
            <a:ext cx="7749779" cy="584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dirty="0" err="1"/>
              <a:t>Title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br>
              <a:rPr lang="fr-FR" dirty="0"/>
            </a:br>
            <a:r>
              <a:rPr lang="fr-FR" dirty="0"/>
              <a:t>in few </a:t>
            </a:r>
            <a:r>
              <a:rPr lang="fr-FR" dirty="0" err="1"/>
              <a:t>lines</a:t>
            </a:r>
            <a:r>
              <a:rPr lang="fr-FR" dirty="0"/>
              <a:t> (Century Gothic Bold 32 pt)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CD5419-8635-6746-8267-5797256E5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306" y="1369219"/>
            <a:ext cx="7749779" cy="31795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fr-FR" dirty="0" err="1"/>
              <a:t>Level</a:t>
            </a:r>
            <a:r>
              <a:rPr lang="fr-FR" dirty="0"/>
              <a:t> 1 </a:t>
            </a:r>
            <a:r>
              <a:rPr lang="fr-FR" dirty="0" err="1"/>
              <a:t>with</a:t>
            </a:r>
            <a:r>
              <a:rPr lang="fr-FR" dirty="0"/>
              <a:t> round </a:t>
            </a:r>
            <a:r>
              <a:rPr lang="fr-FR" dirty="0" err="1"/>
              <a:t>bullet</a:t>
            </a:r>
            <a:r>
              <a:rPr lang="fr-FR" dirty="0"/>
              <a:t> point </a:t>
            </a:r>
            <a:br>
              <a:rPr lang="fr-FR" dirty="0"/>
            </a:br>
            <a:r>
              <a:rPr lang="fr-FR" dirty="0"/>
              <a:t>(Century Gothic 20 pt)</a:t>
            </a:r>
          </a:p>
          <a:p>
            <a:pPr lvl="1"/>
            <a:r>
              <a:rPr lang="fr-FR" dirty="0" err="1"/>
              <a:t>Level</a:t>
            </a:r>
            <a:r>
              <a:rPr lang="fr-FR" dirty="0"/>
              <a:t> 2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dash</a:t>
            </a:r>
            <a:r>
              <a:rPr lang="fr-FR" dirty="0"/>
              <a:t> </a:t>
            </a:r>
            <a:r>
              <a:rPr lang="fr-FR" dirty="0" err="1"/>
              <a:t>bullet</a:t>
            </a:r>
            <a:r>
              <a:rPr lang="fr-FR" dirty="0"/>
              <a:t> point (Century Gothic 18 pt) </a:t>
            </a:r>
          </a:p>
          <a:p>
            <a:pPr lvl="2"/>
            <a:r>
              <a:rPr lang="fr-FR" dirty="0" err="1"/>
              <a:t>Level</a:t>
            </a:r>
            <a:r>
              <a:rPr lang="fr-FR" dirty="0"/>
              <a:t> 3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roubd</a:t>
            </a:r>
            <a:r>
              <a:rPr lang="fr-FR" dirty="0"/>
              <a:t> </a:t>
            </a:r>
            <a:r>
              <a:rPr lang="fr-FR" dirty="0" err="1"/>
              <a:t>bullet</a:t>
            </a:r>
            <a:r>
              <a:rPr lang="fr-FR" dirty="0"/>
              <a:t> point (</a:t>
            </a:r>
            <a:r>
              <a:rPr lang="fr-FR" dirty="0" err="1"/>
              <a:t>century</a:t>
            </a:r>
            <a:r>
              <a:rPr lang="fr-FR" dirty="0"/>
              <a:t> Gothic 16 pt)</a:t>
            </a:r>
          </a:p>
          <a:p>
            <a:pPr lvl="3"/>
            <a:r>
              <a:rPr lang="fr-FR" dirty="0" err="1"/>
              <a:t>Level</a:t>
            </a:r>
            <a:r>
              <a:rPr lang="fr-FR" dirty="0"/>
              <a:t> 4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dash</a:t>
            </a:r>
            <a:r>
              <a:rPr lang="fr-FR" dirty="0"/>
              <a:t> </a:t>
            </a:r>
            <a:r>
              <a:rPr lang="fr-FR" dirty="0" err="1"/>
              <a:t>bullet</a:t>
            </a:r>
            <a:r>
              <a:rPr lang="fr-FR" dirty="0"/>
              <a:t> point (Century Gothic 14 pt)</a:t>
            </a:r>
          </a:p>
          <a:p>
            <a:pPr lvl="4"/>
            <a:r>
              <a:rPr lang="fr-FR" dirty="0"/>
              <a:t>Body </a:t>
            </a:r>
            <a:r>
              <a:rPr lang="fr-FR" dirty="0" err="1"/>
              <a:t>text</a:t>
            </a:r>
            <a:r>
              <a:rPr lang="fr-FR" dirty="0"/>
              <a:t> (Century Gothic 12 pt)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10B9B7-1681-AC45-B161-655CBDE4B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1531" y="4714245"/>
            <a:ext cx="30861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 err="1"/>
              <a:t>Footer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44D1E6-A1FF-9A49-BD7C-267FB60C1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7916" y="4719008"/>
            <a:ext cx="308967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51E75B2-1F5F-104D-81CC-0E99E60AEADE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26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2" r:id="rId14"/>
  </p:sldLayoutIdLst>
  <p:hf hdr="0"/>
  <p:txStyles>
    <p:titleStyle>
      <a:lvl1pPr algn="l" defTabSz="685800" rtl="0" eaLnBrk="1" latinLnBrk="0" hangingPunct="1">
        <a:lnSpc>
          <a:spcPts val="2400"/>
        </a:lnSpc>
        <a:spcBef>
          <a:spcPct val="0"/>
        </a:spcBef>
        <a:buNone/>
        <a:defRPr sz="1950" b="1" i="0" kern="1200">
          <a:solidFill>
            <a:schemeClr val="accent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162000" indent="-162000" algn="l" defTabSz="685800" rtl="0" eaLnBrk="1" latinLnBrk="0" hangingPunct="1">
        <a:lnSpc>
          <a:spcPct val="100000"/>
        </a:lnSpc>
        <a:spcBef>
          <a:spcPts val="450"/>
        </a:spcBef>
        <a:buSzPct val="90000"/>
        <a:buFont typeface="Arial" panose="020B0604020202020204" pitchFamily="34" charset="0"/>
        <a:buChar char="•"/>
        <a:defRPr sz="150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1pPr>
      <a:lvl2pPr marL="297000" indent="-135000" algn="l" defTabSz="685800" rtl="0" eaLnBrk="1" latinLnBrk="0" hangingPunct="1">
        <a:lnSpc>
          <a:spcPct val="100000"/>
        </a:lnSpc>
        <a:spcBef>
          <a:spcPts val="300"/>
        </a:spcBef>
        <a:buSzPct val="120000"/>
        <a:buFont typeface="Police système"/>
        <a:buChar char="-"/>
        <a:defRPr sz="135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2pPr>
      <a:lvl3pPr marL="432000" indent="-135000" algn="l" defTabSz="685800" rtl="0" eaLnBrk="1" latinLnBrk="0" hangingPunct="1">
        <a:lnSpc>
          <a:spcPts val="1650"/>
        </a:lnSpc>
        <a:spcBef>
          <a:spcPts val="0"/>
        </a:spcBef>
        <a:buSzPct val="90000"/>
        <a:buFont typeface="Arial" panose="020B0604020202020204" pitchFamily="34" charset="0"/>
        <a:buChar char="•"/>
        <a:defRPr sz="120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3pPr>
      <a:lvl4pPr marL="540000" indent="-108000" algn="l" defTabSz="685800" rtl="0" eaLnBrk="1" latinLnBrk="0" hangingPunct="1">
        <a:lnSpc>
          <a:spcPts val="1500"/>
        </a:lnSpc>
        <a:spcBef>
          <a:spcPts val="0"/>
        </a:spcBef>
        <a:buSzPct val="120000"/>
        <a:buFont typeface="Police système"/>
        <a:buChar char="-"/>
        <a:defRPr sz="105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4pPr>
      <a:lvl5pPr marL="540000" indent="0" algn="l" defTabSz="685800" rtl="0" eaLnBrk="1" latinLnBrk="0" hangingPunct="1">
        <a:lnSpc>
          <a:spcPts val="1500"/>
        </a:lnSpc>
        <a:spcBef>
          <a:spcPts val="0"/>
        </a:spcBef>
        <a:buFont typeface="Arial" panose="020B0604020202020204" pitchFamily="34" charset="0"/>
        <a:buNone/>
        <a:defRPr sz="900" b="0" i="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4">
          <p15:clr>
            <a:srgbClr val="F26B43"/>
          </p15:clr>
        </p15:guide>
        <p15:guide id="2" orient="horz" pos="3929">
          <p15:clr>
            <a:srgbClr val="F26B43"/>
          </p15:clr>
        </p15:guide>
        <p15:guide id="3" pos="393">
          <p15:clr>
            <a:srgbClr val="F26B43"/>
          </p15:clr>
        </p15:guide>
        <p15:guide id="4" pos="7287">
          <p15:clr>
            <a:srgbClr val="F26B43"/>
          </p15:clr>
        </p15:guide>
        <p15:guide id="5" pos="778">
          <p15:clr>
            <a:srgbClr val="F26B43"/>
          </p15:clr>
        </p15:guide>
        <p15:guide id="6" orient="horz" pos="4110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3816">
          <p15:clr>
            <a:srgbClr val="F26B43"/>
          </p15:clr>
        </p15:guide>
        <p15:guide id="9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5B5E0F42-FB6F-4079-80AC-905F981037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26307" y="1458148"/>
            <a:ext cx="7756922" cy="1662467"/>
          </a:xfrm>
        </p:spPr>
        <p:txBody>
          <a:bodyPr/>
          <a:lstStyle/>
          <a:p>
            <a:pPr algn="ctr"/>
            <a:r>
              <a:t>Отчет за месяц </a:t>
            </a:r>
          </a:p>
          <a:p>
            <a:pPr algn="ctr"/>
            <a:r>
              <a:t> АВГУСТ 2026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A5B3B206-5B63-4144-8FFA-7DA9A2262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8144" y="2931790"/>
            <a:ext cx="3103117" cy="124182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CNT-N, NWR-N</a:t>
            </a:r>
          </a:p>
          <a:p>
            <a:pPr algn="ctr"/>
            <a:r>
              <a:rPr lang="ru-RU" dirty="0"/>
              <a:t>Регион</a:t>
            </a:r>
          </a:p>
          <a:p>
            <a:pPr algn="ctr"/>
            <a:r>
              <a:rPr lang="en-US" dirty="0"/>
              <a:t>SRTM </a:t>
            </a:r>
            <a:r>
              <a:rPr lang="ru-RU" dirty="0"/>
              <a:t>Борисов П.</a:t>
            </a:r>
            <a:endParaRPr lang="en-US" dirty="0"/>
          </a:p>
        </p:txBody>
      </p:sp>
      <p:pic>
        <p:nvPicPr>
          <p:cNvPr id="4" name="Picture 10" descr="Drapeau de la Russie - 3D Rond">
            <a:extLst>
              <a:ext uri="{FF2B5EF4-FFF2-40B4-BE49-F238E27FC236}">
                <a16:creationId xmlns:a16="http://schemas.microsoft.com/office/drawing/2014/main" id="{4D5F9194-CE5A-4D7D-A45B-1826D84F1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752" y="3867894"/>
            <a:ext cx="975158" cy="97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68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4EE9FF-C637-5678-0CF3-32C2016E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5D03F-310E-B640-BCE4-49E71E50EE57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B143389-E25A-6447-6704-73D5B65E7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7945" y="-77866"/>
            <a:ext cx="4608512" cy="421956"/>
          </a:xfrm>
        </p:spPr>
        <p:txBody>
          <a:bodyPr/>
          <a:lstStyle/>
          <a:p>
            <a:r>
              <a:rPr lang="ru-RU" dirty="0"/>
              <a:t>Региональные новости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05357F24-83C1-2692-C974-0CDA30612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56" y="344090"/>
            <a:ext cx="8964488" cy="4176464"/>
          </a:xfrm>
        </p:spPr>
        <p:txBody>
          <a:bodyPr/>
          <a:lstStyle/>
          <a:p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Главными событиями в сфере здравоохранения указанных регионов за август 2026 года, способными напрямую изменить динамику, объемы и структуру фармацевтического рынка, стали реформирование логистических систем льготного отпуска, запуск федерального пилота по мобильной торговле, стабилизация региональных дефектур и расширение превентивной диагностики.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Центральный ФО </a:t>
            </a:r>
          </a:p>
          <a:p>
            <a:pPr marL="171450" lvl="0" indent="-171450" fontAlgn="base">
              <a:buFont typeface="Arial" panose="020B0604020202020204" pitchFamily="34" charset="0"/>
              <a:buChar char="•"/>
            </a:pPr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Ярославская область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(Реорганизация «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Облфарма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»): После весенне-летних сокращений штата и присоединения к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госаптеке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«Областная фармация» складского комплекса мобилизационных резервов «Резерв», Минздрав региона в конце августа начал массовую отгрузку медикаментов, закупленных на осенний период. Влияние на рынок: Власти ликвидируют локальный дефицит в розничных точках, возникший из-за внутренней перестройки сети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госаптек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что восстановит плановый объем потребления рецептурных препаратов. </a:t>
            </a:r>
          </a:p>
          <a:p>
            <a:pPr marL="171450" lvl="0" indent="-171450" fontAlgn="base">
              <a:buFont typeface="Arial" panose="020B0604020202020204" pitchFamily="34" charset="0"/>
              <a:buChar char="•"/>
            </a:pPr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Ярославская и Костромская области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(Массовый скрининг): В регионах до середины сентября продлили масштабную профилактическую акцию «Шаг к здоровью». Мобильные пункты бесплатно обследуют население на маркеры сахарного диабета, патологий легких и сердечно-сосудистых заболеваний (замеры глюкозы, холестерина, давления). Через скрининг уже прошли десятки тысяч человек. Влияние на рынок: Высокая выявляемость хронических заболеваний на ранних стадиях (в августе зафиксировано свыше 7 тысяч факторов риска только в Ярославле) напрямую стимулирует отложенный долгосрочный спрос в коммерческом и льготном сегментах на гипогликемические, гиполипидемические и антигипертензивные препараты</a:t>
            </a:r>
          </a:p>
          <a:p>
            <a:pPr marL="171450" lvl="0" indent="-171450" fontAlgn="base">
              <a:buFont typeface="Arial" panose="020B0604020202020204" pitchFamily="34" charset="0"/>
              <a:buChar char="•"/>
            </a:pPr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Владимирская, Ивановская, Костромская и Тверская области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(Сезонное закрытие квот): В данных регионах август стал финишным месяцем для освоения летних бюджетов и планирования осенне-зимних тендеров с учетом выделенных летом дополнительных федеральных трансфертов на ЖНВЛП и детское лечебное питание</a:t>
            </a:r>
          </a:p>
          <a:p>
            <a:pPr marL="171450" lvl="0" indent="-171450" fontAlgn="base">
              <a:buFont typeface="Arial" panose="020B0604020202020204" pitchFamily="34" charset="0"/>
              <a:buChar char="•"/>
            </a:pPr>
            <a:endParaRPr lang="ru-RU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fontAlgn="base"/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Северо-Западный ФО </a:t>
            </a:r>
          </a:p>
          <a:p>
            <a:pPr marL="171450" lvl="0" indent="-171450" fontAlgn="base">
              <a:buFont typeface="Arial" panose="020B0604020202020204" pitchFamily="34" charset="0"/>
              <a:buChar char="•"/>
            </a:pPr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Мурманская область (Переход на госконтроль):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Регион официально объявил о кардинальной перестройке системы льготного лекарственного обеспечения. Функции закупки, хранения и финального отпуска препаратов в аптеках полностью изымаются у коммерческих подрядчиков и передаются под прямой контроль подведомственного учреждения областного Минздрава (единый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госклад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).Влияние на рынок: Коммерческие дистрибьюторы теряют крупный региональный подряд на логистику. Рынок гособеспечения станет более консолидированным, но возможны временные технические замедления поставок на переходном этапе.</a:t>
            </a:r>
          </a:p>
          <a:p>
            <a:pPr marL="171450" lvl="0" indent="-171450" fontAlgn="base">
              <a:buFont typeface="Arial" panose="020B0604020202020204" pitchFamily="34" charset="0"/>
              <a:buChar char="•"/>
            </a:pPr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Калининградская область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(Формирование резервов): Минздрав области в августе отчитался о выделении порядка 4 млрд рублей на льготные препараты на 2026 год и создании на складах стабильного трехмесячного запаса по всей номенклатурной линейке. Параллельно в августе стартовали закупки на будущие периоды. Влияние на рынок: Снижается риск резких точечных всплесков коммерческих продаж, так как государственная потребность закрыта долгосрочными контрактами; дистрибьюторам обеспечен прогнозируемый сбыт госзакупок</a:t>
            </a:r>
          </a:p>
          <a:p>
            <a:pPr marL="171450" lvl="0" indent="-171450" fontAlgn="base">
              <a:buFont typeface="Arial" panose="020B0604020202020204" pitchFamily="34" charset="0"/>
              <a:buChar char="•"/>
            </a:pPr>
            <a:endParaRPr lang="ru-RU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fontAlgn="base">
              <a:buFont typeface="Arial" panose="020B0604020202020204" pitchFamily="34" charset="0"/>
              <a:buChar char="•"/>
            </a:pPr>
            <a:endParaRPr lang="ru-RU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38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4EE9FF-C637-5678-0CF3-32C2016E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5D03F-310E-B640-BCE4-49E71E50EE57}" type="datetime1">
              <a:rPr lang="fr-FR" smtClean="0"/>
              <a:t>02/09/2026</a:t>
            </a:fld>
            <a:endParaRPr lang="fr-FR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B143389-E25A-6447-6704-73D5B65E7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584" y="-21159"/>
            <a:ext cx="7749779" cy="648691"/>
          </a:xfrm>
        </p:spPr>
        <p:txBody>
          <a:bodyPr/>
          <a:lstStyle/>
          <a:p>
            <a:r>
              <a:rPr lang="ru-RU" dirty="0"/>
              <a:t>Региональные новости Онкология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05357F24-83C1-2692-C974-0CDA30612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411510"/>
            <a:ext cx="8784976" cy="4387900"/>
          </a:xfrm>
        </p:spPr>
        <p:txBody>
          <a:bodyPr/>
          <a:lstStyle/>
          <a:p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сегменте онкологических и онкогематологических препаратов в указанных регионах за август 2026 года сформировался ряд специфических факторов, которые окажут непосредственное влияние на структуру закупок, объемы госпитального сегмента и динамику коммерческого рынка.</a:t>
            </a:r>
          </a:p>
          <a:p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Центральный ФО:</a:t>
            </a:r>
            <a:endParaRPr lang="ru-RU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fontAlgn="base"/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Владимирская область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(Сокращение нецелевых хирургических квот): Минздрав Владимирской области в конце августа официально подтвердил сокращение квот на проведение операций по доброкачественным новообразованиям в Областном клиническом онкологическом диспансере. Ведомство полностью переориентирует ресурсы учреждения исключительно на лечение злокачественных опухолей (ЗНО).Влияние на рынок: Произойдет резкая концентрация госпитального бюджета региона на химио-, таргетной и иммунотерапии для тяжелых пациентов со злокачественными патологиями. Потребление базовых госпитальных растворов, шовных материалов и антибиотиков для плановой доброкачественной хирургии перераспределится в пользу коммерческого сектора и общих многопрофильных больниц, куда уйдет поток этих пациентов</a:t>
            </a:r>
          </a:p>
          <a:p>
            <a:pPr lvl="0" fontAlgn="base"/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Ярославская область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(Запуск производственных циклов «Р-Фарм»): В развитие соглашений, зафиксированных ранее в этом году, в августе фармкластер региона вышел на финальную стадию подготовки мощностей для организации полного цикла выпуска импортозамещающих онкопрепаратов. Проект нацелен на производство минимум 6 критически важных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наименований.Влияние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на рынок: Ярославская область (а за ней и соседние Костромская и Ивановская, входящие в логистический контур) получит приоритетное ценовое и логистическое предложение на локальные интервенции противоопухолевых средств. Для иностранных оригинаторов и сторонних дистрибьюторов это означает усиление конкуренции по правилу «Третий лишний» в осенних госзакупках</a:t>
            </a:r>
          </a:p>
          <a:p>
            <a:pPr lvl="0" fontAlgn="base"/>
            <a:endParaRPr lang="ru-RU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fontAlgn="base"/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Северо-Западный ФО: </a:t>
            </a:r>
          </a:p>
          <a:p>
            <a:pPr lvl="0" fontAlgn="base"/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Вологодская область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(Рост объемов лекарственной терапии): Областной онкодиспансер подвел итоги работы, показавшие резкую интенсификацию лекарственного лечения (проведено более 6 тысяч курсов химио-, таргетной, гормональной и иммунотерапии за отчетный период). Параллельно регион запустил в августе масштабный проект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онкоскрининга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«Северная звезда России» (включающий ПСА-тесты и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онкоцитологию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).Влияние на рынок: Стабильно высокая динамика выполнения планов ОМС гарантирует производителям оригинальных таргетных и иммуноонкологических препаратов (ингибиторы контрольных точек, моноклональные антитела) сохранение высоких объемов отгрузок до конца года. Проекты раннего скрининга расширят воронку пациентов, формируя прирост рынка на горизонте 3–6 месяцев.</a:t>
            </a:r>
          </a:p>
          <a:p>
            <a:pPr lvl="0" fontAlgn="base"/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Мурманская и Калининградская области: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Из-за изоляции Калининграда и перехода Мурманска на централизованный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госклад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в августе закупки дорогостоящих таргетных препаратов для онкологии переведены на длинные контракты с обязательным формированием неснижаемого 3-месячного запаса непосредственно в онкодиспансерах.</a:t>
            </a:r>
          </a:p>
          <a:p>
            <a:pPr lvl="0" fontAlgn="base"/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Влияние на рынок: Снижается волатильность коммерческого розничного спроса (когда пациенты при задержках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госаптек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выкупали дорогие позиции за свой счет). Дистрибьюторы получают крупные, но редкие транши поставок.</a:t>
            </a:r>
          </a:p>
          <a:p>
            <a:pPr lvl="0" fontAlgn="base"/>
            <a:endParaRPr lang="ru-RU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85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B0A1-AD5C-9CE2-91C4-8E5211E7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>
            <a:extLst>
              <a:ext uri="{FF2B5EF4-FFF2-40B4-BE49-F238E27FC236}">
                <a16:creationId xmlns:a16="http://schemas.microsoft.com/office/drawing/2014/main" id="{3243349D-C732-63CA-60D5-577EEAEDBF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47" imgH="348" progId="TCLayout.ActiveDocument.1">
                  <p:embed/>
                </p:oleObj>
              </mc:Choice>
              <mc:Fallback>
                <p:oleObj name="Слайд think-cell" r:id="rId4" imgW="347" imgH="348" progId="TCLayout.ActiveDocument.1">
                  <p:embed/>
                  <p:pic>
                    <p:nvPicPr>
                      <p:cNvPr id="5" name="Объект 4" hidden="1">
                        <a:extLst>
                          <a:ext uri="{FF2B5EF4-FFF2-40B4-BE49-F238E27FC236}">
                            <a16:creationId xmlns:a16="http://schemas.microsoft.com/office/drawing/2014/main" id="{3243349D-C732-63CA-60D5-577EEAEDBF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225A4-B16F-620F-82D1-6C3B61BE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577" y="67860"/>
            <a:ext cx="2535295" cy="311825"/>
          </a:xfrm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ts val="2400"/>
              </a:lnSpc>
            </a:pPr>
            <a:r>
              <a:rPr lang="ru-RU" sz="2000" dirty="0"/>
              <a:t>Ключевые выводы</a:t>
            </a:r>
            <a:endParaRPr lang="en-US" sz="2000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390560EB-3167-E221-3540-C4AE3B8E9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422" y="669377"/>
            <a:ext cx="7606042" cy="1055975"/>
          </a:xfrm>
        </p:spPr>
        <p:txBody>
          <a:bodyPr>
            <a:noAutofit/>
          </a:bodyPr>
          <a:lstStyle/>
          <a:p>
            <a:pPr marL="128588" indent="-128588" algn="just">
              <a:buFont typeface="Arial" panose="020B0604020202020204" pitchFamily="34" charset="0"/>
              <a:buChar char="•"/>
            </a:pP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июле 2026 года план продаж успешно перевыполнен по всем показателям: фактический объем составил 218 млн, что практически соответствует целевому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таргету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(0,98%) и  выше бизнес-плана на 5,94%,  рост к прошлому году на 13,91%.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Онкаспару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YTD 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отставание от цели на -10% (факт 123 </a:t>
            </a:r>
            <a:r>
              <a:rPr lang="ru-RU" sz="12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фл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VS цель </a:t>
            </a:r>
            <a:r>
              <a:rPr lang="ru-RU" sz="12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таргет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136фл.) Текущий месяц (07-08.26): Состоялись поставки в Вологду, Владимир и Череповец. Продажи за июль и август составили 9 </a:t>
            </a:r>
            <a:r>
              <a:rPr lang="ru-RU" sz="12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фл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., ниже чем планировали, т.к. нет заявки по отыгранным аукционам в Вологде и Архангельске в связи со снижением </a:t>
            </a:r>
            <a:r>
              <a:rPr lang="ru-RU" sz="12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пациентопотока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Онивайд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на территории не закупался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Состоялись первые закупки </a:t>
            </a:r>
            <a:r>
              <a:rPr lang="ru-RU" sz="12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Лонсурфа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Твери и объявлен аукцион на 36 </a:t>
            </a:r>
            <a:r>
              <a:rPr lang="ru-RU" sz="12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в Мурманске.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Продолжаем 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мониторинг ситуации по пациенту с ХК 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ru-RU" sz="12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Тибсово</a:t>
            </a:r>
            <a:r>
              <a:rPr lang="ru-RU" sz="1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Мурманске</a:t>
            </a:r>
            <a:endParaRPr lang="en-US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 algn="just">
              <a:buFont typeface="Arial" panose="020B0604020202020204" pitchFamily="34" charset="0"/>
              <a:buChar char="•"/>
            </a:pPr>
            <a:endParaRPr lang="ru-RU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7363745-C62B-C3B0-2CC0-70F218EC8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191"/>
            <a:ext cx="65" cy="18851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9522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350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D9048-805D-059C-6CEB-6BE1F65EF7BC}"/>
              </a:ext>
            </a:extLst>
          </p:cNvPr>
          <p:cNvSpPr txBox="1"/>
          <p:nvPr/>
        </p:nvSpPr>
        <p:spPr>
          <a:xfrm>
            <a:off x="8102" y="538278"/>
            <a:ext cx="89633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b="1" dirty="0">
                <a:solidFill>
                  <a:srgbClr val="242269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Итоги </a:t>
            </a:r>
            <a:r>
              <a:rPr lang="ru-RU" sz="900" b="1" dirty="0" err="1">
                <a:solidFill>
                  <a:srgbClr val="242269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прошедше</a:t>
            </a:r>
            <a:r>
              <a:rPr lang="ru-RU" sz="900" b="1" dirty="0">
                <a:solidFill>
                  <a:srgbClr val="242269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-го месяца</a:t>
            </a:r>
            <a:endParaRPr lang="en-US" sz="900" b="1" dirty="0">
              <a:solidFill>
                <a:srgbClr val="242269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A02623E4-EBDF-70E0-EA67-9613994ED5C0}"/>
              </a:ext>
            </a:extLst>
          </p:cNvPr>
          <p:cNvGrpSpPr/>
          <p:nvPr/>
        </p:nvGrpSpPr>
        <p:grpSpPr>
          <a:xfrm rot="16200000" flipH="1">
            <a:off x="-994157" y="2415924"/>
            <a:ext cx="3863874" cy="192194"/>
            <a:chOff x="1360475" y="978531"/>
            <a:chExt cx="5910543" cy="229418"/>
          </a:xfrm>
        </p:grpSpPr>
        <p:cxnSp>
          <p:nvCxnSpPr>
            <p:cNvPr id="13" name="Straight Connector 6">
              <a:extLst>
                <a:ext uri="{FF2B5EF4-FFF2-40B4-BE49-F238E27FC236}">
                  <a16:creationId xmlns:a16="http://schemas.microsoft.com/office/drawing/2014/main" id="{9F60A9B1-7F93-0201-0814-2EFDC1E46EF3}"/>
                </a:ext>
              </a:extLst>
            </p:cNvPr>
            <p:cNvCxnSpPr>
              <a:cxnSpLocks/>
              <a:stCxn id="15" idx="1"/>
              <a:endCxn id="43" idx="1"/>
            </p:cNvCxnSpPr>
            <p:nvPr/>
          </p:nvCxnSpPr>
          <p:spPr>
            <a:xfrm rot="16200000" flipH="1">
              <a:off x="4302339" y="-1645678"/>
              <a:ext cx="26814" cy="5477836"/>
            </a:xfrm>
            <a:prstGeom prst="lin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Arrow: Chevron 12">
              <a:extLst>
                <a:ext uri="{FF2B5EF4-FFF2-40B4-BE49-F238E27FC236}">
                  <a16:creationId xmlns:a16="http://schemas.microsoft.com/office/drawing/2014/main" id="{1B9D4163-9DBE-6792-2161-50491646236C}"/>
                </a:ext>
              </a:extLst>
            </p:cNvPr>
            <p:cNvSpPr/>
            <p:nvPr/>
          </p:nvSpPr>
          <p:spPr>
            <a:xfrm rot="5400000">
              <a:off x="1475527" y="863479"/>
              <a:ext cx="202605" cy="432709"/>
            </a:xfrm>
            <a:prstGeom prst="chevron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14313" indent="-214313" algn="ctr" defTabSz="914355">
                <a:buFont typeface="Arial" panose="020B0604020202020204" pitchFamily="34" charset="0"/>
                <a:buChar char="•"/>
                <a:defRPr/>
              </a:pPr>
              <a:endParaRPr lang="en-US" sz="1200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1" name="Arrow: Chevron 12">
              <a:extLst>
                <a:ext uri="{FF2B5EF4-FFF2-40B4-BE49-F238E27FC236}">
                  <a16:creationId xmlns:a16="http://schemas.microsoft.com/office/drawing/2014/main" id="{F4A1C5BD-128B-49E1-59AE-E74C1C58C107}"/>
                </a:ext>
              </a:extLst>
            </p:cNvPr>
            <p:cNvSpPr/>
            <p:nvPr/>
          </p:nvSpPr>
          <p:spPr>
            <a:xfrm rot="5400000">
              <a:off x="4750357" y="887463"/>
              <a:ext cx="202606" cy="432709"/>
            </a:xfrm>
            <a:prstGeom prst="chevron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14313" indent="-214313" algn="ctr" defTabSz="914355">
                <a:buFont typeface="Arial" panose="020B0604020202020204" pitchFamily="34" charset="0"/>
                <a:buChar char="•"/>
                <a:defRPr/>
              </a:pPr>
              <a:endParaRPr lang="en-US" sz="1200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3" name="Arrow: Chevron 12">
              <a:extLst>
                <a:ext uri="{FF2B5EF4-FFF2-40B4-BE49-F238E27FC236}">
                  <a16:creationId xmlns:a16="http://schemas.microsoft.com/office/drawing/2014/main" id="{010BF91E-A0E5-ED09-35B3-3B3F28B76BA4}"/>
                </a:ext>
              </a:extLst>
            </p:cNvPr>
            <p:cNvSpPr/>
            <p:nvPr/>
          </p:nvSpPr>
          <p:spPr>
            <a:xfrm rot="5400000">
              <a:off x="6953362" y="890292"/>
              <a:ext cx="202604" cy="432709"/>
            </a:xfrm>
            <a:prstGeom prst="chevron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14313" indent="-214313" algn="ctr" defTabSz="914355">
                <a:buFont typeface="Arial" panose="020B0604020202020204" pitchFamily="34" charset="0"/>
                <a:buChar char="•"/>
                <a:defRPr/>
              </a:pPr>
              <a:endParaRPr lang="en-US" sz="120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18" name="Объект 10">
            <a:extLst>
              <a:ext uri="{FF2B5EF4-FFF2-40B4-BE49-F238E27FC236}">
                <a16:creationId xmlns:a16="http://schemas.microsoft.com/office/drawing/2014/main" id="{8E8C11E6-7C3A-FF2F-4041-BC8AB7C52142}"/>
              </a:ext>
            </a:extLst>
          </p:cNvPr>
          <p:cNvSpPr txBox="1">
            <a:spLocks/>
          </p:cNvSpPr>
          <p:nvPr/>
        </p:nvSpPr>
        <p:spPr>
          <a:xfrm>
            <a:off x="1108614" y="2552446"/>
            <a:ext cx="7846074" cy="22906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anose="020B0604020202020204" pitchFamily="34" charset="0"/>
              <a:buNone/>
              <a:defRPr sz="1800" b="0" i="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300"/>
              </a:spcBef>
              <a:buSzPct val="120000"/>
              <a:buFont typeface="Police système"/>
              <a:buNone/>
              <a:defRPr sz="1500" b="0" i="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ts val="1650"/>
              </a:lnSpc>
              <a:spcBef>
                <a:spcPts val="0"/>
              </a:spcBef>
              <a:buSzPct val="90000"/>
              <a:buFont typeface="Arial" panose="020B0604020202020204" pitchFamily="34" charset="0"/>
              <a:buNone/>
              <a:defRPr sz="1350" b="0" i="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ts val="1500"/>
              </a:lnSpc>
              <a:spcBef>
                <a:spcPts val="0"/>
              </a:spcBef>
              <a:buSzPct val="120000"/>
              <a:buFont typeface="Police système"/>
              <a:buNone/>
              <a:defRPr sz="1200" b="0" i="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Проконтролировать поставки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Онкаспара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 аукционам в Вологде, Архангельске.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Обсуждение продолжение терапии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Лонсурфом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для пациента в Твери и формирование торговых процедур, контроль поставки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Лонсурфа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 аукциону в Мурманске.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Совместно с кросс функциями продолжить мониторинг ситуации по пациенту с ХК на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Тибсово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Мурманске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US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200" dirty="0">
              <a:solidFill>
                <a:srgbClr val="002060"/>
              </a:solidFill>
            </a:endParaRPr>
          </a:p>
          <a:p>
            <a:endParaRPr lang="en-US" sz="1200" b="1" i="1" u="sng" dirty="0">
              <a:solidFill>
                <a:srgbClr val="4D4D4D"/>
              </a:solidFill>
            </a:endParaRPr>
          </a:p>
          <a:p>
            <a:pPr marL="285743" indent="-285743"/>
            <a:endParaRPr lang="en-US" sz="1200" dirty="0">
              <a:solidFill>
                <a:srgbClr val="4D4D4D"/>
              </a:solidFill>
            </a:endParaRPr>
          </a:p>
          <a:p>
            <a:pPr marL="285743" indent="-285743"/>
            <a:endParaRPr lang="en-US" sz="1200" dirty="0">
              <a:solidFill>
                <a:srgbClr val="4D4D4D"/>
              </a:solidFill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940CE943-BAE6-0B47-45C8-0F30E75DA44A}"/>
              </a:ext>
            </a:extLst>
          </p:cNvPr>
          <p:cNvGrpSpPr/>
          <p:nvPr/>
        </p:nvGrpSpPr>
        <p:grpSpPr>
          <a:xfrm>
            <a:off x="500837" y="5863696"/>
            <a:ext cx="8058935" cy="1933330"/>
            <a:chOff x="500837" y="5863696"/>
            <a:chExt cx="8058935" cy="1933330"/>
          </a:xfrm>
        </p:grpSpPr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59A78DC1-926A-033C-0D9A-6A160D622FA3}"/>
                </a:ext>
              </a:extLst>
            </p:cNvPr>
            <p:cNvSpPr/>
            <p:nvPr/>
          </p:nvSpPr>
          <p:spPr>
            <a:xfrm>
              <a:off x="500837" y="5863696"/>
              <a:ext cx="1958629" cy="1933330"/>
            </a:xfrm>
            <a:custGeom>
              <a:avLst/>
              <a:gdLst>
                <a:gd name="csX0" fmla="*/ 0 w 1958629"/>
                <a:gd name="csY0" fmla="*/ 0 h 1933330"/>
                <a:gd name="csX1" fmla="*/ 1958629 w 1958629"/>
                <a:gd name="csY1" fmla="*/ 0 h 1933330"/>
                <a:gd name="csX2" fmla="*/ 1958629 w 1958629"/>
                <a:gd name="csY2" fmla="*/ 1933330 h 1933330"/>
                <a:gd name="csX3" fmla="*/ 0 w 1958629"/>
                <a:gd name="csY3" fmla="*/ 1933330 h 1933330"/>
                <a:gd name="csX4" fmla="*/ 0 w 1958629"/>
                <a:gd name="csY4" fmla="*/ 0 h 1933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8629" h="1933330" fill="none" extrusionOk="0">
                  <a:moveTo>
                    <a:pt x="0" y="0"/>
                  </a:moveTo>
                  <a:cubicBezTo>
                    <a:pt x="233093" y="154162"/>
                    <a:pt x="1440998" y="-84168"/>
                    <a:pt x="1958629" y="0"/>
                  </a:cubicBezTo>
                  <a:cubicBezTo>
                    <a:pt x="1952838" y="663723"/>
                    <a:pt x="2108692" y="1691024"/>
                    <a:pt x="1958629" y="1933330"/>
                  </a:cubicBezTo>
                  <a:cubicBezTo>
                    <a:pt x="1340429" y="1775892"/>
                    <a:pt x="395927" y="1825604"/>
                    <a:pt x="0" y="1933330"/>
                  </a:cubicBezTo>
                  <a:cubicBezTo>
                    <a:pt x="-169654" y="1707727"/>
                    <a:pt x="69427" y="805226"/>
                    <a:pt x="0" y="0"/>
                  </a:cubicBezTo>
                  <a:close/>
                </a:path>
                <a:path w="1958629" h="1933330" stroke="0" extrusionOk="0">
                  <a:moveTo>
                    <a:pt x="0" y="0"/>
                  </a:moveTo>
                  <a:cubicBezTo>
                    <a:pt x="733998" y="141064"/>
                    <a:pt x="1455839" y="-82788"/>
                    <a:pt x="1958629" y="0"/>
                  </a:cubicBezTo>
                  <a:cubicBezTo>
                    <a:pt x="1823420" y="450813"/>
                    <a:pt x="2015483" y="1555112"/>
                    <a:pt x="1958629" y="1933330"/>
                  </a:cubicBezTo>
                  <a:cubicBezTo>
                    <a:pt x="1638138" y="1885100"/>
                    <a:pt x="600715" y="1861140"/>
                    <a:pt x="0" y="1933330"/>
                  </a:cubicBezTo>
                  <a:cubicBezTo>
                    <a:pt x="-47570" y="1202729"/>
                    <a:pt x="-12678" y="344055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1544865879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5400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55">
                <a:defRPr/>
              </a:pPr>
              <a:endParaRPr lang="ru-RU" sz="825" kern="0" dirty="0">
                <a:solidFill>
                  <a:schemeClr val="accent1"/>
                </a:solidFill>
                <a:latin typeface="Century Gothic" panose="020B0502020202020204" pitchFamily="34" charset="0"/>
                <a:sym typeface="+mj-lt"/>
              </a:endParaRP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BB03158D-1743-7560-2974-197FB1E3B7FC}"/>
                </a:ext>
              </a:extLst>
            </p:cNvPr>
            <p:cNvSpPr/>
            <p:nvPr/>
          </p:nvSpPr>
          <p:spPr>
            <a:xfrm>
              <a:off x="2536725" y="5863696"/>
              <a:ext cx="1952500" cy="1933330"/>
            </a:xfrm>
            <a:custGeom>
              <a:avLst/>
              <a:gdLst>
                <a:gd name="csX0" fmla="*/ 0 w 1952500"/>
                <a:gd name="csY0" fmla="*/ 0 h 1933330"/>
                <a:gd name="csX1" fmla="*/ 1952500 w 1952500"/>
                <a:gd name="csY1" fmla="*/ 0 h 1933330"/>
                <a:gd name="csX2" fmla="*/ 1952500 w 1952500"/>
                <a:gd name="csY2" fmla="*/ 1933330 h 1933330"/>
                <a:gd name="csX3" fmla="*/ 0 w 1952500"/>
                <a:gd name="csY3" fmla="*/ 1933330 h 1933330"/>
                <a:gd name="csX4" fmla="*/ 0 w 1952500"/>
                <a:gd name="csY4" fmla="*/ 0 h 1933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2500" h="1933330" fill="none" extrusionOk="0">
                  <a:moveTo>
                    <a:pt x="0" y="0"/>
                  </a:moveTo>
                  <a:cubicBezTo>
                    <a:pt x="278411" y="-114925"/>
                    <a:pt x="1658978" y="-144617"/>
                    <a:pt x="1952500" y="0"/>
                  </a:cubicBezTo>
                  <a:cubicBezTo>
                    <a:pt x="1834352" y="625186"/>
                    <a:pt x="2060938" y="1182815"/>
                    <a:pt x="1952500" y="1933330"/>
                  </a:cubicBezTo>
                  <a:cubicBezTo>
                    <a:pt x="1545017" y="1866634"/>
                    <a:pt x="568280" y="1809571"/>
                    <a:pt x="0" y="1933330"/>
                  </a:cubicBezTo>
                  <a:cubicBezTo>
                    <a:pt x="-85693" y="1487252"/>
                    <a:pt x="131158" y="587822"/>
                    <a:pt x="0" y="0"/>
                  </a:cubicBezTo>
                  <a:close/>
                </a:path>
                <a:path w="1952500" h="1933330" stroke="0" extrusionOk="0">
                  <a:moveTo>
                    <a:pt x="0" y="0"/>
                  </a:moveTo>
                  <a:cubicBezTo>
                    <a:pt x="941662" y="-105139"/>
                    <a:pt x="1361767" y="7188"/>
                    <a:pt x="1952500" y="0"/>
                  </a:cubicBezTo>
                  <a:cubicBezTo>
                    <a:pt x="1877567" y="247124"/>
                    <a:pt x="2086174" y="1272135"/>
                    <a:pt x="1952500" y="1933330"/>
                  </a:cubicBezTo>
                  <a:cubicBezTo>
                    <a:pt x="1310226" y="1863837"/>
                    <a:pt x="734726" y="1856434"/>
                    <a:pt x="0" y="1933330"/>
                  </a:cubicBezTo>
                  <a:cubicBezTo>
                    <a:pt x="-56771" y="1605775"/>
                    <a:pt x="3265" y="54597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3448958754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5400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55">
                <a:defRPr/>
              </a:pPr>
              <a:endParaRPr lang="ru-RU" sz="825" kern="0" dirty="0">
                <a:solidFill>
                  <a:schemeClr val="accent1"/>
                </a:solidFill>
                <a:latin typeface="Century Gothic" panose="020B0502020202020204" pitchFamily="34" charset="0"/>
                <a:sym typeface="+mj-lt"/>
              </a:endParaRPr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EFD77156-0C60-B4D3-E804-C41ABBFB6476}"/>
                </a:ext>
              </a:extLst>
            </p:cNvPr>
            <p:cNvSpPr/>
            <p:nvPr/>
          </p:nvSpPr>
          <p:spPr>
            <a:xfrm>
              <a:off x="4577513" y="5863696"/>
              <a:ext cx="1952500" cy="1933330"/>
            </a:xfrm>
            <a:custGeom>
              <a:avLst/>
              <a:gdLst>
                <a:gd name="csX0" fmla="*/ 0 w 1952500"/>
                <a:gd name="csY0" fmla="*/ 0 h 1933330"/>
                <a:gd name="csX1" fmla="*/ 1952500 w 1952500"/>
                <a:gd name="csY1" fmla="*/ 0 h 1933330"/>
                <a:gd name="csX2" fmla="*/ 1952500 w 1952500"/>
                <a:gd name="csY2" fmla="*/ 1933330 h 1933330"/>
                <a:gd name="csX3" fmla="*/ 0 w 1952500"/>
                <a:gd name="csY3" fmla="*/ 1933330 h 1933330"/>
                <a:gd name="csX4" fmla="*/ 0 w 1952500"/>
                <a:gd name="csY4" fmla="*/ 0 h 1933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2500" h="1933330" fill="none" extrusionOk="0">
                  <a:moveTo>
                    <a:pt x="0" y="0"/>
                  </a:moveTo>
                  <a:cubicBezTo>
                    <a:pt x="579293" y="74405"/>
                    <a:pt x="1006303" y="-138583"/>
                    <a:pt x="1952500" y="0"/>
                  </a:cubicBezTo>
                  <a:cubicBezTo>
                    <a:pt x="1954690" y="698099"/>
                    <a:pt x="2067196" y="1447557"/>
                    <a:pt x="1952500" y="1933330"/>
                  </a:cubicBezTo>
                  <a:cubicBezTo>
                    <a:pt x="1189353" y="1858748"/>
                    <a:pt x="618506" y="2096808"/>
                    <a:pt x="0" y="1933330"/>
                  </a:cubicBezTo>
                  <a:cubicBezTo>
                    <a:pt x="76632" y="1260322"/>
                    <a:pt x="135343" y="547345"/>
                    <a:pt x="0" y="0"/>
                  </a:cubicBezTo>
                  <a:close/>
                </a:path>
                <a:path w="1952500" h="1933330" stroke="0" extrusionOk="0">
                  <a:moveTo>
                    <a:pt x="0" y="0"/>
                  </a:moveTo>
                  <a:cubicBezTo>
                    <a:pt x="958036" y="80207"/>
                    <a:pt x="1511655" y="-125523"/>
                    <a:pt x="1952500" y="0"/>
                  </a:cubicBezTo>
                  <a:cubicBezTo>
                    <a:pt x="1793181" y="589480"/>
                    <a:pt x="2020976" y="1609673"/>
                    <a:pt x="1952500" y="1933330"/>
                  </a:cubicBezTo>
                  <a:cubicBezTo>
                    <a:pt x="1094805" y="2086369"/>
                    <a:pt x="972017" y="2002535"/>
                    <a:pt x="0" y="1933330"/>
                  </a:cubicBezTo>
                  <a:cubicBezTo>
                    <a:pt x="73119" y="1737273"/>
                    <a:pt x="-48237" y="923019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3497206451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5400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14313" indent="-214313" defTabSz="914355">
                <a:buFont typeface="Arial" panose="020B0604020202020204" pitchFamily="34" charset="0"/>
                <a:buChar char="•"/>
                <a:defRPr/>
              </a:pPr>
              <a:endParaRPr lang="ru-RU" sz="825" kern="0" dirty="0">
                <a:solidFill>
                  <a:schemeClr val="accent1"/>
                </a:solidFill>
                <a:latin typeface="Century Gothic" panose="020B0502020202020204" pitchFamily="34" charset="0"/>
                <a:sym typeface="+mj-lt"/>
              </a:endParaRPr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8EE5D364-0A5E-1C76-0444-478CC388B3B6}"/>
                </a:ext>
              </a:extLst>
            </p:cNvPr>
            <p:cNvSpPr/>
            <p:nvPr/>
          </p:nvSpPr>
          <p:spPr>
            <a:xfrm>
              <a:off x="6607272" y="5863696"/>
              <a:ext cx="1952500" cy="1933330"/>
            </a:xfrm>
            <a:custGeom>
              <a:avLst/>
              <a:gdLst>
                <a:gd name="csX0" fmla="*/ 0 w 1952500"/>
                <a:gd name="csY0" fmla="*/ 0 h 1933330"/>
                <a:gd name="csX1" fmla="*/ 1952500 w 1952500"/>
                <a:gd name="csY1" fmla="*/ 0 h 1933330"/>
                <a:gd name="csX2" fmla="*/ 1952500 w 1952500"/>
                <a:gd name="csY2" fmla="*/ 1933330 h 1933330"/>
                <a:gd name="csX3" fmla="*/ 0 w 1952500"/>
                <a:gd name="csY3" fmla="*/ 1933330 h 1933330"/>
                <a:gd name="csX4" fmla="*/ 0 w 1952500"/>
                <a:gd name="csY4" fmla="*/ 0 h 1933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2500" h="1933330" fill="none" extrusionOk="0">
                  <a:moveTo>
                    <a:pt x="0" y="0"/>
                  </a:moveTo>
                  <a:cubicBezTo>
                    <a:pt x="284158" y="-65459"/>
                    <a:pt x="1482014" y="12100"/>
                    <a:pt x="1952500" y="0"/>
                  </a:cubicBezTo>
                  <a:cubicBezTo>
                    <a:pt x="2072150" y="676675"/>
                    <a:pt x="1994608" y="1290462"/>
                    <a:pt x="1952500" y="1933330"/>
                  </a:cubicBezTo>
                  <a:cubicBezTo>
                    <a:pt x="1137214" y="1784842"/>
                    <a:pt x="765352" y="1943818"/>
                    <a:pt x="0" y="1933330"/>
                  </a:cubicBezTo>
                  <a:cubicBezTo>
                    <a:pt x="130678" y="1184639"/>
                    <a:pt x="19906" y="513359"/>
                    <a:pt x="0" y="0"/>
                  </a:cubicBezTo>
                  <a:close/>
                </a:path>
                <a:path w="1952500" h="1933330" stroke="0" extrusionOk="0">
                  <a:moveTo>
                    <a:pt x="0" y="0"/>
                  </a:moveTo>
                  <a:cubicBezTo>
                    <a:pt x="900115" y="109010"/>
                    <a:pt x="1567878" y="123739"/>
                    <a:pt x="1952500" y="0"/>
                  </a:cubicBezTo>
                  <a:cubicBezTo>
                    <a:pt x="1929422" y="620589"/>
                    <a:pt x="1914396" y="1500051"/>
                    <a:pt x="1952500" y="1933330"/>
                  </a:cubicBezTo>
                  <a:cubicBezTo>
                    <a:pt x="1539992" y="1865065"/>
                    <a:pt x="399772" y="1983062"/>
                    <a:pt x="0" y="1933330"/>
                  </a:cubicBezTo>
                  <a:cubicBezTo>
                    <a:pt x="-40119" y="1123770"/>
                    <a:pt x="-37862" y="60606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1637592779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5400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55">
                <a:defRPr/>
              </a:pPr>
              <a:endParaRPr lang="en-US" sz="900" b="1" kern="0" dirty="0">
                <a:solidFill>
                  <a:schemeClr val="accent1"/>
                </a:solidFill>
                <a:latin typeface="Century Gothic" panose="020B0502020202020204" pitchFamily="34" charset="0"/>
                <a:sym typeface="+mj-lt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540337C-6C5F-8CD4-CA4F-590EEA44C807}"/>
              </a:ext>
            </a:extLst>
          </p:cNvPr>
          <p:cNvSpPr txBox="1"/>
          <p:nvPr/>
        </p:nvSpPr>
        <p:spPr>
          <a:xfrm>
            <a:off x="35454" y="1042613"/>
            <a:ext cx="8963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1" dirty="0">
                <a:solidFill>
                  <a:srgbClr val="ED7D3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Conclusions and </a:t>
            </a:r>
          </a:p>
          <a:p>
            <a:r>
              <a:rPr lang="en-US" sz="700" b="1" i="1" dirty="0">
                <a:solidFill>
                  <a:srgbClr val="ED7D3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events</a:t>
            </a:r>
            <a:endParaRPr lang="ru-RU" sz="1600" i="1" dirty="0">
              <a:solidFill>
                <a:srgbClr val="ED7D31"/>
              </a:solidFill>
              <a:latin typeface="Century Gothic" panose="020B0502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D1FF66-B8C7-F5BA-3236-45D32E86F732}"/>
              </a:ext>
            </a:extLst>
          </p:cNvPr>
          <p:cNvSpPr txBox="1"/>
          <p:nvPr/>
        </p:nvSpPr>
        <p:spPr>
          <a:xfrm>
            <a:off x="-36802" y="2599986"/>
            <a:ext cx="1043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b="1" dirty="0">
                <a:solidFill>
                  <a:srgbClr val="242269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План</a:t>
            </a:r>
            <a:r>
              <a:rPr lang="en-US" sz="900" b="1" dirty="0">
                <a:solidFill>
                  <a:srgbClr val="242269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900" b="1" dirty="0">
                <a:solidFill>
                  <a:srgbClr val="242269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действий на предстоящий месяц</a:t>
            </a:r>
            <a:endParaRPr lang="en-US" sz="900" b="1" dirty="0">
              <a:solidFill>
                <a:srgbClr val="242269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589256-5E83-D2A0-D0B3-E7B1F2870738}"/>
              </a:ext>
            </a:extLst>
          </p:cNvPr>
          <p:cNvSpPr txBox="1"/>
          <p:nvPr/>
        </p:nvSpPr>
        <p:spPr>
          <a:xfrm>
            <a:off x="59676" y="3191317"/>
            <a:ext cx="6622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1" dirty="0">
                <a:solidFill>
                  <a:srgbClr val="ED7D3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tasks </a:t>
            </a:r>
            <a:endParaRPr lang="ru-RU" sz="700" b="1" i="1" dirty="0">
              <a:solidFill>
                <a:srgbClr val="ED7D31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27CC1D-E075-1907-E22B-BDF2DD91D688}"/>
              </a:ext>
            </a:extLst>
          </p:cNvPr>
          <p:cNvSpPr txBox="1"/>
          <p:nvPr/>
        </p:nvSpPr>
        <p:spPr>
          <a:xfrm>
            <a:off x="39593" y="3774864"/>
            <a:ext cx="864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b="1" dirty="0" err="1">
                <a:solidFill>
                  <a:srgbClr val="242269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Предложе-ния</a:t>
            </a:r>
            <a:endParaRPr lang="ru-RU" sz="900" b="1" dirty="0">
              <a:solidFill>
                <a:srgbClr val="242269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A02467-BE81-3FFE-9F62-C80796207583}"/>
              </a:ext>
            </a:extLst>
          </p:cNvPr>
          <p:cNvSpPr txBox="1"/>
          <p:nvPr/>
        </p:nvSpPr>
        <p:spPr>
          <a:xfrm>
            <a:off x="61907" y="4210251"/>
            <a:ext cx="842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1" dirty="0">
                <a:solidFill>
                  <a:srgbClr val="ED7D3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Questions for discussion </a:t>
            </a:r>
            <a:endParaRPr lang="ru-RU" sz="1600" i="1" dirty="0">
              <a:solidFill>
                <a:srgbClr val="ED7D3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862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74373-9D83-4300-B770-2D318CBD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164" y="-77795"/>
            <a:ext cx="7467160" cy="676824"/>
          </a:xfrm>
        </p:spPr>
        <p:txBody>
          <a:bodyPr>
            <a:noAutofit/>
          </a:bodyPr>
          <a:lstStyle/>
          <a:p>
            <a:r>
              <a:rPr lang="en-US" sz="2400" dirty="0"/>
              <a:t> CMVD market trends. CNT-N, RUB, Month</a:t>
            </a:r>
            <a:r>
              <a:rPr lang="ru-RU" sz="2400" dirty="0"/>
              <a:t>.</a:t>
            </a:r>
            <a:r>
              <a:rPr lang="en-US" sz="2400" dirty="0"/>
              <a:t>   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88E2D7-9826-4313-9AB0-5E1477AAF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552" y="4227934"/>
            <a:ext cx="7467160" cy="1302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100" dirty="0"/>
              <a:t>Комментарии:</a:t>
            </a:r>
          </a:p>
          <a:p>
            <a:r>
              <a:rPr lang="ru-RU" sz="1100" dirty="0"/>
              <a:t>В июле 2026 года в регионе </a:t>
            </a:r>
            <a:r>
              <a:rPr lang="en-US" sz="1100" dirty="0"/>
              <a:t>CNT-N </a:t>
            </a:r>
            <a:r>
              <a:rPr lang="ru-RU" sz="1100" dirty="0"/>
              <a:t>общий фармацевтический рынок вырос на 16,9% по сравнению с прошлым годом, при этом наибольшую долю в структуре продаж занимают кардиологические препараты и средства для лечения хронических заболеваний (CMVD).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A6021E-1EE9-D767-4E61-5251BBF41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11510"/>
            <a:ext cx="6480720" cy="368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74373-9D83-4300-B770-2D318CBD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164" y="-77795"/>
            <a:ext cx="5853177" cy="676824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 CMVD market trends.</a:t>
            </a:r>
            <a:r>
              <a:rPr lang="ru-RU" sz="2400" dirty="0"/>
              <a:t> </a:t>
            </a:r>
            <a:r>
              <a:rPr lang="en-US" sz="2400" dirty="0"/>
              <a:t>NWR-N RUB, Month</a:t>
            </a:r>
            <a:r>
              <a:rPr lang="ru-RU" sz="2400" dirty="0"/>
              <a:t>.</a:t>
            </a:r>
            <a:r>
              <a:rPr lang="en-US" sz="2400" dirty="0"/>
              <a:t>   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88E2D7-9826-4313-9AB0-5E1477AAF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4269149"/>
            <a:ext cx="7416824" cy="1241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100" dirty="0"/>
              <a:t>Комментарии:</a:t>
            </a:r>
            <a:endParaRPr lang="en-US" sz="1100" dirty="0"/>
          </a:p>
          <a:p>
            <a:pPr marL="0" indent="0">
              <a:buNone/>
            </a:pPr>
            <a:r>
              <a:rPr lang="ru-RU" sz="1100" dirty="0"/>
              <a:t>В июле 2026 года общий фармацевтический рынок в регионе NWR-N показал рост 11,9% к прошлому году, где наибольшую долю в структуре продаж занимают кардиологические препараты и средства для лечения хронических заболеваний (CMVD).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47C59A-0645-1011-E9C9-F1BE36E3A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846" y="478575"/>
            <a:ext cx="6718402" cy="379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9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87B81C-2E6F-4DDC-CCBB-D55C7EDBD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18362"/>
            <a:ext cx="5832648" cy="31193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74373-9D83-4300-B770-2D318CBD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539" y="-84953"/>
            <a:ext cx="7856935" cy="648690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 </a:t>
            </a:r>
            <a:r>
              <a:rPr lang="en-US" sz="2400" dirty="0"/>
              <a:t>MDLP, Total sales June and July 26. Month, RUB. </a:t>
            </a:r>
            <a:endParaRPr lang="ru-RU" sz="24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AEC3A27-CEFF-F75A-7126-6B961A840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088" y="3573010"/>
            <a:ext cx="8014386" cy="1152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dirty="0"/>
              <a:t>Комментарии:</a:t>
            </a:r>
          </a:p>
          <a:p>
            <a:pPr marL="0" indent="0">
              <a:buNone/>
            </a:pPr>
            <a:r>
              <a:rPr lang="ru-RU" sz="1000" dirty="0"/>
              <a:t>В июле 2026 года план продаж успешно перевыполнен по всем показателям: фактический объем составил 218 млн, что практически соответствует целевому </a:t>
            </a:r>
            <a:r>
              <a:rPr lang="ru-RU" sz="1000" dirty="0" err="1"/>
              <a:t>таргету</a:t>
            </a:r>
            <a:r>
              <a:rPr lang="ru-RU" sz="1000" dirty="0"/>
              <a:t> (0,98%) и  выше бизнес-плана на 5,94%,  рост к прошлому году на 13,91%.</a:t>
            </a:r>
            <a:endParaRPr lang="en-US" sz="1000" dirty="0"/>
          </a:p>
          <a:p>
            <a:pPr marL="0" indent="0">
              <a:buNone/>
            </a:pPr>
            <a:r>
              <a:rPr lang="ru-RU" sz="1000" dirty="0"/>
              <a:t>С начала года (YTD) план продаж успешно выполняется с небольшим опережением: фактический объем достиг 2,08 млрд, что выше целевого </a:t>
            </a:r>
            <a:r>
              <a:rPr lang="ru-RU" sz="1000" dirty="0" err="1"/>
              <a:t>таргета</a:t>
            </a:r>
            <a:r>
              <a:rPr lang="ru-RU" sz="1000" dirty="0"/>
              <a:t> на 1,12%, превышает бизнес-план на 2,72% и демонстрирует уверенный рост к прошлому году на 13,58%.</a:t>
            </a:r>
            <a:endParaRPr lang="en-US" sz="1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8CA10E-DA07-A3C8-AEF2-6B571228A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000" y="720000"/>
            <a:ext cx="1320349" cy="127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3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74373-9D83-4300-B770-2D318CBD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200" y="58504"/>
            <a:ext cx="7856935" cy="648690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 </a:t>
            </a:r>
            <a:r>
              <a:rPr lang="en-US" sz="2400" dirty="0"/>
              <a:t>MDLP, Total sales June and July 26. Month, RUB. </a:t>
            </a:r>
            <a:endParaRPr lang="ru-RU" sz="24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AEC3A27-CEFF-F75A-7126-6B961A840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037" y="3363838"/>
            <a:ext cx="8014386" cy="1152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dirty="0"/>
              <a:t>Комментарии:</a:t>
            </a:r>
          </a:p>
          <a:p>
            <a:pPr marL="0" indent="0">
              <a:buNone/>
            </a:pPr>
            <a:r>
              <a:rPr lang="ru-RU" sz="1000" dirty="0"/>
              <a:t>В июне и июле 2026 года  регион </a:t>
            </a:r>
            <a:r>
              <a:rPr lang="en-US" sz="1000" dirty="0"/>
              <a:t>CNT-N </a:t>
            </a:r>
            <a:r>
              <a:rPr lang="ru-RU" sz="1000" dirty="0"/>
              <a:t> демонстрирует положительную динамику</a:t>
            </a:r>
            <a:r>
              <a:rPr lang="en-US" sz="1000" dirty="0"/>
              <a:t> </a:t>
            </a:r>
            <a:r>
              <a:rPr lang="ru-RU" sz="1000" dirty="0"/>
              <a:t>в соответствии с планом продаж.</a:t>
            </a:r>
          </a:p>
          <a:p>
            <a:r>
              <a:rPr lang="ru-RU" sz="1000" dirty="0"/>
              <a:t>Продажи выросли на +18,6% и +15,3% соответственно относительно аналогичного периода прошлого года.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r>
              <a:rPr lang="ru-RU" sz="1000" dirty="0"/>
              <a:t>По региону </a:t>
            </a:r>
            <a:r>
              <a:rPr lang="en-US" sz="1000" dirty="0"/>
              <a:t>NWR-N</a:t>
            </a:r>
            <a:r>
              <a:rPr lang="ru-RU" sz="1000" dirty="0"/>
              <a:t> выполнение плана также демонстрирует уверенный рост с выполнением плана продаж.</a:t>
            </a:r>
            <a:r>
              <a:rPr lang="en-US" sz="1000" dirty="0"/>
              <a:t> </a:t>
            </a:r>
            <a:r>
              <a:rPr lang="ru-RU" sz="1000" dirty="0"/>
              <a:t>Продажи увеличились на +19,0% и +12,4% соответственно по сравнению с прошлым годом.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2AD29-A88A-38EC-8049-CB3A3C9C17E6}"/>
              </a:ext>
            </a:extLst>
          </p:cNvPr>
          <p:cNvSpPr txBox="1"/>
          <p:nvPr/>
        </p:nvSpPr>
        <p:spPr>
          <a:xfrm>
            <a:off x="6156176" y="44286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NWR-N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9A049-0F63-7216-A6B9-E84EE52950D3}"/>
              </a:ext>
            </a:extLst>
          </p:cNvPr>
          <p:cNvSpPr txBox="1"/>
          <p:nvPr/>
        </p:nvSpPr>
        <p:spPr>
          <a:xfrm>
            <a:off x="1835696" y="470170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CNT-N</a:t>
            </a:r>
            <a:endParaRPr lang="ru-RU" dirty="0">
              <a:solidFill>
                <a:schemeClr val="accent1"/>
              </a:solidFill>
            </a:endParaRPr>
          </a:p>
        </p:txBody>
      </p:sp>
      <p:pic>
        <p:nvPicPr>
          <p:cNvPr id="4" name="CNTN">
            <a:extLst>
              <a:ext uri="{FF2B5EF4-FFF2-40B4-BE49-F238E27FC236}">
                <a16:creationId xmlns:a16="http://schemas.microsoft.com/office/drawing/2014/main" id="{1FCCF639-45C7-387B-CC94-B68728236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63" y="922525"/>
            <a:ext cx="3572604" cy="2038455"/>
          </a:xfrm>
          <a:prstGeom prst="rect">
            <a:avLst/>
          </a:prstGeom>
        </p:spPr>
      </p:pic>
      <p:pic>
        <p:nvPicPr>
          <p:cNvPr id="10" name="NWRN">
            <a:extLst>
              <a:ext uri="{FF2B5EF4-FFF2-40B4-BE49-F238E27FC236}">
                <a16:creationId xmlns:a16="http://schemas.microsoft.com/office/drawing/2014/main" id="{C0541397-69D0-DCAC-60F0-A4589D377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198" y="922525"/>
            <a:ext cx="3569937" cy="20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49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02D9511-927E-7186-DA28-EE94BA920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600" y="0"/>
            <a:ext cx="8360991" cy="432048"/>
          </a:xfrm>
        </p:spPr>
        <p:txBody>
          <a:bodyPr/>
          <a:lstStyle/>
          <a:p>
            <a:r>
              <a:rPr lang="en-US" sz="2400" dirty="0"/>
              <a:t>MDLP sales buy products. July.26,Montn, Units.</a:t>
            </a:r>
            <a:endParaRPr lang="ru-RU" sz="2400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A2DE660-D37C-9336-68A1-C3B5903D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916" y="3626113"/>
            <a:ext cx="7856935" cy="1025857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Оба региона демонстрируют стабильный рост продаж на уровне ~8% при этом оба региона успешно перевыполнили как коммерческие планы.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err="1"/>
              <a:t>Трипликсам</a:t>
            </a:r>
            <a:r>
              <a:rPr lang="ru-RU" sz="1000" dirty="0"/>
              <a:t> является главным драйвером абсолютного прироста в обоих регионах, показывая темпы роста выше +21%. 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err="1"/>
              <a:t>Престариум</a:t>
            </a:r>
            <a:r>
              <a:rPr lang="ru-RU" sz="1000" dirty="0"/>
              <a:t> и </a:t>
            </a:r>
            <a:r>
              <a:rPr lang="ru-RU" sz="1000" dirty="0" err="1"/>
              <a:t>Нолипрел</a:t>
            </a:r>
            <a:r>
              <a:rPr lang="en-US" sz="1000" dirty="0"/>
              <a:t> </a:t>
            </a:r>
            <a:r>
              <a:rPr lang="ru-RU" sz="1000" dirty="0"/>
              <a:t>удерживают за собой максимальные доли рынка.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Уверенный рост Детралекс говорит об успешном старте весенних компаний и о достаточном ТЗ на рынке, что в результате привело к выполнению поставленных целей.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1555ED-7CDB-8A36-BFC4-8BE00B32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013" y="649828"/>
            <a:ext cx="6044740" cy="273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4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F1EB0-53A8-8472-8556-0AC59931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NWRN">
            <a:extLst>
              <a:ext uri="{FF2B5EF4-FFF2-40B4-BE49-F238E27FC236}">
                <a16:creationId xmlns:a16="http://schemas.microsoft.com/office/drawing/2014/main" id="{05500D28-0A13-2344-E70A-EF9F23DF1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7" y="878526"/>
            <a:ext cx="3813427" cy="2162969"/>
          </a:xfrm>
          <a:prstGeom prst="rect">
            <a:avLst/>
          </a:prstGeom>
        </p:spPr>
      </p:pic>
      <p:pic>
        <p:nvPicPr>
          <p:cNvPr id="9" name="CNTN">
            <a:extLst>
              <a:ext uri="{FF2B5EF4-FFF2-40B4-BE49-F238E27FC236}">
                <a16:creationId xmlns:a16="http://schemas.microsoft.com/office/drawing/2014/main" id="{71D0B6D5-BB1A-AFAB-0FD9-82B207AA8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878527"/>
            <a:ext cx="3833165" cy="21629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30260-9C1B-CB79-FE32-DD451B3C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3076"/>
            <a:ext cx="7749779" cy="584001"/>
          </a:xfrm>
        </p:spPr>
        <p:txBody>
          <a:bodyPr anchor="ctr">
            <a:normAutofit/>
          </a:bodyPr>
          <a:lstStyle/>
          <a:p>
            <a:r>
              <a:rPr lang="ru-RU" dirty="0"/>
              <a:t> </a:t>
            </a:r>
            <a:r>
              <a:rPr lang="en-US" dirty="0"/>
              <a:t>MDLP sales buy products. July,</a:t>
            </a:r>
            <a:r>
              <a:rPr lang="ru-RU" dirty="0"/>
              <a:t> </a:t>
            </a:r>
            <a:r>
              <a:rPr lang="en-US" dirty="0" err="1"/>
              <a:t>Montn</a:t>
            </a:r>
            <a:r>
              <a:rPr lang="en-US" dirty="0"/>
              <a:t>, Units. 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CBD6E1-7630-B156-45CE-284F2E31A5B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79512" y="3075806"/>
            <a:ext cx="8491853" cy="18669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900" dirty="0"/>
              <a:t>Комментарии:</a:t>
            </a:r>
          </a:p>
          <a:p>
            <a:r>
              <a:rPr lang="ru-RU" sz="900" dirty="0"/>
              <a:t>Регион CNT-N демонстрирует высокие показатели: общий план перевыполнен на +3,48%, а продажи выросли на +9,73% по сравнению с прошлым периодом.</a:t>
            </a:r>
          </a:p>
          <a:p>
            <a:r>
              <a:rPr lang="ru-RU" sz="900" dirty="0"/>
              <a:t>Выполнение плана за счет 5 ключевых продуктах-лидерах (</a:t>
            </a:r>
            <a:r>
              <a:rPr lang="ru-RU" sz="900" dirty="0" err="1"/>
              <a:t>Диабетон</a:t>
            </a:r>
            <a:r>
              <a:rPr lang="ru-RU" sz="900" dirty="0"/>
              <a:t>, </a:t>
            </a:r>
            <a:r>
              <a:rPr lang="ru-RU" sz="900" dirty="0" err="1"/>
              <a:t>Престариум</a:t>
            </a:r>
            <a:r>
              <a:rPr lang="ru-RU" sz="900" dirty="0"/>
              <a:t>, </a:t>
            </a:r>
            <a:r>
              <a:rPr lang="ru-RU" sz="900" dirty="0" err="1"/>
              <a:t>Нолипрел</a:t>
            </a:r>
            <a:r>
              <a:rPr lang="ru-RU" sz="900" dirty="0"/>
              <a:t>, </a:t>
            </a:r>
            <a:r>
              <a:rPr lang="ru-RU" sz="900" dirty="0" err="1"/>
              <a:t>Трипликсам</a:t>
            </a:r>
            <a:r>
              <a:rPr lang="ru-RU" sz="900" dirty="0"/>
              <a:t>, Детралекс), которые генерируют более 77% всех продаж.</a:t>
            </a:r>
          </a:p>
          <a:p>
            <a:r>
              <a:rPr lang="ru-RU" sz="900" dirty="0" err="1"/>
              <a:t>Трипликсам</a:t>
            </a:r>
            <a:r>
              <a:rPr lang="ru-RU" sz="900" dirty="0"/>
              <a:t>: является главным драйвером месяца, обеспечив почти 40% всего чистого прироста региона (+4 514 </a:t>
            </a:r>
            <a:r>
              <a:rPr lang="ru-RU" sz="900" dirty="0" err="1"/>
              <a:t>уп</a:t>
            </a:r>
            <a:r>
              <a:rPr lang="ru-RU" sz="900" dirty="0"/>
              <a:t>.).</a:t>
            </a:r>
          </a:p>
          <a:p>
            <a:r>
              <a:rPr lang="ru-RU" sz="900" dirty="0"/>
              <a:t>Регион </a:t>
            </a:r>
            <a:r>
              <a:rPr lang="en-US" sz="900" dirty="0"/>
              <a:t>NWR-N </a:t>
            </a:r>
            <a:r>
              <a:rPr lang="ru-RU" sz="900" dirty="0"/>
              <a:t>демонстрирует высокую  эффективность, при общем росте продаж на +7,9% регион выполнил как коммерческий план (Target на +0,04%), так и региональный бизнес-план (RBP на +1,13%).</a:t>
            </a:r>
            <a:endParaRPr lang="en-US" sz="900" dirty="0"/>
          </a:p>
          <a:p>
            <a:r>
              <a:rPr lang="ru-RU" sz="900" dirty="0" err="1"/>
              <a:t>Престариум</a:t>
            </a:r>
            <a:r>
              <a:rPr lang="ru-RU" sz="900" dirty="0"/>
              <a:t> и </a:t>
            </a:r>
            <a:r>
              <a:rPr lang="ru-RU" sz="900" dirty="0" err="1"/>
              <a:t>Трипликсам</a:t>
            </a:r>
            <a:r>
              <a:rPr lang="ru-RU" sz="900" dirty="0"/>
              <a:t>: Эти два бренда стали главными драйверами региона. </a:t>
            </a:r>
            <a:r>
              <a:rPr lang="ru-RU" sz="900" dirty="0" err="1"/>
              <a:t>Престариум</a:t>
            </a:r>
            <a:r>
              <a:rPr lang="ru-RU" sz="900" dirty="0"/>
              <a:t> обеспечил наибольший объем продаж (41575 </a:t>
            </a:r>
            <a:r>
              <a:rPr lang="ru-RU" sz="900" dirty="0" err="1"/>
              <a:t>уп</a:t>
            </a:r>
            <a:r>
              <a:rPr lang="ru-RU" sz="900" dirty="0"/>
              <a:t>) с перевыполнением планов на ~8%. </a:t>
            </a:r>
            <a:r>
              <a:rPr lang="ru-RU" sz="900" dirty="0" err="1"/>
              <a:t>Трипликсам</a:t>
            </a:r>
            <a:r>
              <a:rPr lang="ru-RU" sz="900" dirty="0"/>
              <a:t> показал  рост (+19,78%), с </a:t>
            </a:r>
            <a:r>
              <a:rPr lang="ru-RU" sz="900" dirty="0" err="1"/>
              <a:t>аплифтом</a:t>
            </a:r>
            <a:r>
              <a:rPr lang="ru-RU" sz="900" dirty="0"/>
              <a:t> в +3741уп.</a:t>
            </a:r>
            <a:endParaRPr lang="en-US" sz="900" dirty="0"/>
          </a:p>
          <a:p>
            <a:r>
              <a:rPr lang="ru-RU" sz="900" dirty="0"/>
              <a:t>ключевые растущие бренды портфеля (Детралекс, Предуктал) в этом месяце полностью демонстрируют уверенное достижение  коммерческих целей.</a:t>
            </a: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B15CE-90C0-CE61-90AF-51387DF48C18}"/>
              </a:ext>
            </a:extLst>
          </p:cNvPr>
          <p:cNvSpPr txBox="1"/>
          <p:nvPr/>
        </p:nvSpPr>
        <p:spPr>
          <a:xfrm>
            <a:off x="5134521" y="509195"/>
            <a:ext cx="877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NWR-N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66585-403E-9A9D-AAC5-73FDF060CFF5}"/>
              </a:ext>
            </a:extLst>
          </p:cNvPr>
          <p:cNvSpPr txBox="1"/>
          <p:nvPr/>
        </p:nvSpPr>
        <p:spPr>
          <a:xfrm>
            <a:off x="971600" y="52388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CNT-N</a:t>
            </a:r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62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00270-2331-466C-834F-FDC165FFC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9" y="-59374"/>
            <a:ext cx="8652612" cy="585598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Distributors`TOP5 analysis. Secondary sales. Month. RUB. </a:t>
            </a:r>
            <a:br>
              <a:rPr lang="ru-RU" sz="1800" kern="800" cap="all" spc="100" dirty="0">
                <a:latin typeface="Garamond" panose="02020404030301010803" pitchFamily="18" charset="0"/>
              </a:rPr>
            </a:b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A109B-EB10-4861-B5F5-A7E6329D84C1}"/>
              </a:ext>
            </a:extLst>
          </p:cNvPr>
          <p:cNvSpPr txBox="1"/>
          <p:nvPr/>
        </p:nvSpPr>
        <p:spPr>
          <a:xfrm>
            <a:off x="179512" y="528934"/>
            <a:ext cx="561372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MAT</a:t>
            </a:r>
            <a:endParaRPr lang="ru-RU" sz="160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10CB4-DE44-4FA4-A6C2-A88588187309}"/>
              </a:ext>
            </a:extLst>
          </p:cNvPr>
          <p:cNvSpPr txBox="1"/>
          <p:nvPr/>
        </p:nvSpPr>
        <p:spPr>
          <a:xfrm>
            <a:off x="4136542" y="576351"/>
            <a:ext cx="750205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Month</a:t>
            </a:r>
            <a:endParaRPr lang="ru-RU" sz="1600" dirty="0">
              <a:solidFill>
                <a:srgbClr val="002060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C7C4F8B-4FCE-E958-45CE-CE36064F2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3508827"/>
            <a:ext cx="8928992" cy="9086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900" dirty="0"/>
              <a:t>Комментарии:</a:t>
            </a:r>
          </a:p>
          <a:p>
            <a:pPr marL="0" indent="0">
              <a:buNone/>
            </a:pPr>
            <a:r>
              <a:rPr lang="ru-RU" sz="900" dirty="0"/>
              <a:t> На МАТ доли ТОП3 равномерно распределены среди ДБ главным образом за счет работы с приоритетными АС: Пульс на 1 месте за счет активной работы  с АС Антей, Планета здоровья и Апрель, где доля продаж приближается к 50%. Вторую строчку занимает Протек, за счет АС Ригла, которая продолжает расти в регионе. 3-ю строчку занимает Катрен.</a:t>
            </a:r>
          </a:p>
          <a:p>
            <a:pPr marL="0" indent="0">
              <a:buNone/>
            </a:pPr>
            <a:r>
              <a:rPr lang="ru-RU" sz="900" dirty="0"/>
              <a:t>Результаты месяца.</a:t>
            </a:r>
          </a:p>
          <a:p>
            <a:pPr marL="228600" indent="-228600">
              <a:buAutoNum type="arabicPeriod"/>
            </a:pPr>
            <a:r>
              <a:rPr lang="ru-RU" sz="900" dirty="0"/>
              <a:t>Пульс лидер рынка. В этом месяце Пульс занимает лидирующую строчку как и в годовом тренде с долей 25%. Катрен поднялся на 2-е место: Доля дистрибьютора выросла до 19%. </a:t>
            </a:r>
          </a:p>
          <a:p>
            <a:pPr marL="228600" indent="-228600">
              <a:buAutoNum type="arabicPeriod"/>
            </a:pPr>
            <a:r>
              <a:rPr lang="ru-RU" sz="900" dirty="0"/>
              <a:t>Замедление роста продаж Протека т.к. на годовом отрезке Протек занимал 2-ю строчку однако в этом конкретном месяце его динамика резко замедлилась до -17,4%. Доля составила 15,7% (4-е место).</a:t>
            </a:r>
          </a:p>
          <a:p>
            <a:pPr marL="0" indent="0">
              <a:buNone/>
            </a:pPr>
            <a:endParaRPr lang="en-US" sz="900" dirty="0"/>
          </a:p>
        </p:txBody>
      </p:sp>
      <p:pic>
        <p:nvPicPr>
          <p:cNvPr id="6" name="Month">
            <a:extLst>
              <a:ext uri="{FF2B5EF4-FFF2-40B4-BE49-F238E27FC236}">
                <a16:creationId xmlns:a16="http://schemas.microsoft.com/office/drawing/2014/main" id="{2A10642E-092D-0D6F-3480-85A68FE35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04" y="526224"/>
            <a:ext cx="2959367" cy="2994968"/>
          </a:xfrm>
          <a:prstGeom prst="rect">
            <a:avLst/>
          </a:prstGeom>
        </p:spPr>
      </p:pic>
      <p:pic>
        <p:nvPicPr>
          <p:cNvPr id="9" name="MAT">
            <a:extLst>
              <a:ext uri="{FF2B5EF4-FFF2-40B4-BE49-F238E27FC236}">
                <a16:creationId xmlns:a16="http://schemas.microsoft.com/office/drawing/2014/main" id="{8784F2D5-431B-3B54-A82C-39BCC81F9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26" y="526225"/>
            <a:ext cx="2963724" cy="299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0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00270-2331-466C-834F-FDC165FFC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3728" y="-92546"/>
            <a:ext cx="4608512" cy="576683"/>
          </a:xfrm>
        </p:spPr>
        <p:txBody>
          <a:bodyPr>
            <a:noAutofit/>
          </a:bodyPr>
          <a:lstStyle/>
          <a:p>
            <a:r>
              <a:rPr lang="en-US" sz="2000" dirty="0"/>
              <a:t>Trends of  markup  </a:t>
            </a:r>
            <a:r>
              <a:rPr lang="ru-RU" sz="2000" dirty="0"/>
              <a:t>ТОР</a:t>
            </a:r>
            <a:r>
              <a:rPr lang="en-US" sz="2000" dirty="0"/>
              <a:t>5 Distributors. </a:t>
            </a:r>
            <a:br>
              <a:rPr lang="ru-RU" sz="2000" kern="800" cap="all" spc="100" dirty="0">
                <a:latin typeface="Garamond" panose="02020404030301010803" pitchFamily="18" charset="0"/>
              </a:rPr>
            </a:br>
            <a:endParaRPr lang="ru-RU" sz="20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8777FB7-8543-446F-A8F3-81E85A1F6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704" y="3074675"/>
            <a:ext cx="8738592" cy="2088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dirty="0"/>
              <a:t>Комментарии:</a:t>
            </a:r>
          </a:p>
          <a:p>
            <a:r>
              <a:rPr lang="ru-RU" sz="1000" b="1" dirty="0"/>
              <a:t>Лидеры по уровню наценки (Положительная зона)</a:t>
            </a:r>
          </a:p>
          <a:p>
            <a:r>
              <a:rPr lang="ru-RU" sz="1000" b="1" dirty="0"/>
              <a:t>ПРОТЕК:</a:t>
            </a:r>
            <a:r>
              <a:rPr lang="ru-RU" sz="1000" dirty="0"/>
              <a:t> Удерживает наценку на околонулевом значении </a:t>
            </a:r>
            <a:r>
              <a:rPr lang="ru-RU" sz="1000" b="1" dirty="0"/>
              <a:t>-0,06%</a:t>
            </a:r>
            <a:r>
              <a:rPr lang="ru-RU" sz="1000" dirty="0"/>
              <a:t>, стабилизация наценки последние несколько месяцев.</a:t>
            </a:r>
          </a:p>
          <a:p>
            <a:r>
              <a:rPr lang="ru-RU" sz="1000" b="1" dirty="0"/>
              <a:t>ПУЛЬС:</a:t>
            </a:r>
            <a:r>
              <a:rPr lang="ru-RU" sz="1000" dirty="0"/>
              <a:t> Стабильно удерживает позиции в положительной зоне с наценкой </a:t>
            </a:r>
            <a:r>
              <a:rPr lang="ru-RU" sz="1000" b="1" dirty="0"/>
              <a:t>-0,65%</a:t>
            </a:r>
            <a:r>
              <a:rPr lang="ru-RU" sz="1000" dirty="0"/>
              <a:t>.</a:t>
            </a:r>
          </a:p>
          <a:p>
            <a:r>
              <a:rPr lang="ru-RU" sz="1000" b="1" dirty="0"/>
              <a:t>КАТРЕН:</a:t>
            </a:r>
            <a:r>
              <a:rPr lang="ru-RU" sz="1000" dirty="0"/>
              <a:t> Демонстрирует наценку </a:t>
            </a:r>
            <a:r>
              <a:rPr lang="ru-RU" sz="1000" b="1" dirty="0"/>
              <a:t>-0,94% </a:t>
            </a:r>
            <a:r>
              <a:rPr lang="ru-RU" sz="1000" dirty="0"/>
              <a:t>что значительно выше чем в предыдущие месяцы.</a:t>
            </a:r>
          </a:p>
          <a:p>
            <a:r>
              <a:rPr lang="ru-RU" sz="1000" b="1" dirty="0"/>
              <a:t>Дистрибьюторы в зоне умеренно отрицательных наценок</a:t>
            </a:r>
          </a:p>
          <a:p>
            <a:r>
              <a:rPr lang="ru-RU" sz="1000" dirty="0"/>
              <a:t>Основная группа игроков сосредоточена в интервале от -1% до -2%:</a:t>
            </a:r>
          </a:p>
          <a:p>
            <a:r>
              <a:rPr lang="ru-RU" sz="1000" b="1" dirty="0"/>
              <a:t>ГРАНД КАПИТАЛ:</a:t>
            </a:r>
            <a:r>
              <a:rPr lang="ru-RU" sz="1000" dirty="0"/>
              <a:t> Наценка составила </a:t>
            </a:r>
            <a:r>
              <a:rPr lang="ru-RU" sz="1000" b="1" dirty="0"/>
              <a:t>-1,23%</a:t>
            </a:r>
          </a:p>
          <a:p>
            <a:r>
              <a:rPr lang="ru-RU" sz="1000" b="1" dirty="0"/>
              <a:t>ВИТТА-КОМПАНИ:</a:t>
            </a:r>
            <a:r>
              <a:rPr lang="ru-RU" sz="1000" dirty="0"/>
              <a:t> Наценка составила </a:t>
            </a:r>
            <a:r>
              <a:rPr lang="ru-RU" sz="1000" b="1" dirty="0"/>
              <a:t>-1,65%</a:t>
            </a:r>
          </a:p>
          <a:p>
            <a:r>
              <a:rPr lang="ru-RU" sz="1000" b="1" dirty="0"/>
              <a:t>ФАРМКОМПЛЕКТ: </a:t>
            </a:r>
            <a:r>
              <a:rPr lang="ru-RU" sz="1000" dirty="0"/>
              <a:t>Наценка составила </a:t>
            </a:r>
            <a:r>
              <a:rPr lang="ru-RU" sz="1000" b="1" dirty="0"/>
              <a:t>-1,95%</a:t>
            </a:r>
            <a:endParaRPr lang="ru-RU" sz="1000" dirty="0"/>
          </a:p>
          <a:p>
            <a:r>
              <a:rPr lang="ru-RU" sz="1000" b="1" dirty="0"/>
              <a:t>Аутсайдеры с наибольшим дисконтом</a:t>
            </a:r>
          </a:p>
          <a:p>
            <a:r>
              <a:rPr lang="ru-RU" sz="1000" b="1" dirty="0"/>
              <a:t>АВЕСТА ФАРМАЦЕВТИКА:</a:t>
            </a:r>
            <a:r>
              <a:rPr lang="ru-RU" sz="1000" dirty="0"/>
              <a:t> Опустились в самый низ графика с показателем </a:t>
            </a:r>
            <a:r>
              <a:rPr lang="ru-RU" sz="1000" b="1" dirty="0"/>
              <a:t>-2,39%</a:t>
            </a:r>
            <a:r>
              <a:rPr lang="ru-RU" sz="1000" dirty="0"/>
              <a:t>, что является самой низкой наценкой на рынке в течение 2026 года.</a:t>
            </a:r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B6E284-4F3B-539D-BDD3-2F60F8753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971" y="415072"/>
            <a:ext cx="6166025" cy="272866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AB3729-9081-30A5-13C0-E2DC3CAC2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555526"/>
            <a:ext cx="1533117" cy="125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35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86BD77F7-3BE1-4EC3-B7CC-E1537F033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3848981"/>
            <a:ext cx="8692015" cy="12418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dirty="0"/>
              <a:t>Комментарии:</a:t>
            </a:r>
          </a:p>
          <a:p>
            <a:pPr marL="0" indent="0">
              <a:buNone/>
            </a:pPr>
            <a:r>
              <a:rPr lang="ru-RU" sz="1000" dirty="0"/>
              <a:t> Показатели товарного запаса (ТЗ) в разрезе дистрибьюторов </a:t>
            </a:r>
            <a:r>
              <a:rPr lang="en-US" sz="1000" dirty="0"/>
              <a:t>CNT-N</a:t>
            </a:r>
            <a:r>
              <a:rPr lang="ru-RU" sz="1000" dirty="0"/>
              <a:t> в целом находятся в пределах нормы со средним результатом </a:t>
            </a:r>
            <a:r>
              <a:rPr lang="en-US" sz="1000" dirty="0"/>
              <a:t>45</a:t>
            </a:r>
            <a:r>
              <a:rPr lang="ru-RU" sz="1000" dirty="0"/>
              <a:t>дней.</a:t>
            </a:r>
            <a:endParaRPr lang="en-US" sz="1000" dirty="0"/>
          </a:p>
          <a:p>
            <a:pPr marL="0" indent="0">
              <a:buNone/>
            </a:pPr>
            <a:endParaRPr lang="ru-RU" sz="1000" dirty="0"/>
          </a:p>
          <a:p>
            <a:r>
              <a:rPr lang="ru-RU" sz="1000" dirty="0"/>
              <a:t>Общая ситуация с товарным запасом (ТЗ)</a:t>
            </a:r>
            <a:r>
              <a:rPr lang="en-US" sz="1000" dirty="0"/>
              <a:t> e </a:t>
            </a:r>
            <a:r>
              <a:rPr lang="ru-RU" sz="1000" dirty="0"/>
              <a:t>дистрибьюторов </a:t>
            </a:r>
            <a:r>
              <a:rPr lang="en-US" sz="1000" dirty="0"/>
              <a:t>NWR-N</a:t>
            </a:r>
            <a:r>
              <a:rPr lang="ru-RU" sz="1000" dirty="0"/>
              <a:t> находятся в пределах нормы со средним результатом </a:t>
            </a:r>
            <a:r>
              <a:rPr lang="en-US" sz="1000" dirty="0"/>
              <a:t>39</a:t>
            </a:r>
            <a:r>
              <a:rPr lang="ru-RU" sz="1000" dirty="0"/>
              <a:t>дней. 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B1391F6F-B4E5-428A-B2EE-E9AE4F6E5CFC}"/>
              </a:ext>
            </a:extLst>
          </p:cNvPr>
          <p:cNvSpPr txBox="1">
            <a:spLocks/>
          </p:cNvSpPr>
          <p:nvPr/>
        </p:nvSpPr>
        <p:spPr>
          <a:xfrm>
            <a:off x="1043608" y="54440"/>
            <a:ext cx="8229600" cy="585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0"/>
              </a:defRPr>
            </a:lvl1pPr>
          </a:lstStyle>
          <a:p>
            <a:r>
              <a:rPr lang="en-US" sz="2900" dirty="0">
                <a:solidFill>
                  <a:srgbClr val="002060"/>
                </a:solidFill>
                <a:latin typeface="Century Gothic" panose="020B0502020202020204" pitchFamily="34" charset="0"/>
              </a:rPr>
              <a:t>Distributors` analysis. Stock by products.  </a:t>
            </a:r>
            <a:br>
              <a:rPr lang="ru-RU" sz="2400" dirty="0">
                <a:solidFill>
                  <a:srgbClr val="002060"/>
                </a:solidFill>
                <a:latin typeface="Century Gothic" panose="020B0502020202020204" pitchFamily="34" charset="0"/>
              </a:rPr>
            </a:br>
            <a:endParaRPr lang="ru-RU" sz="24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632D6-E563-11A2-6B21-7DE10E1C61FF}"/>
              </a:ext>
            </a:extLst>
          </p:cNvPr>
          <p:cNvSpPr txBox="1"/>
          <p:nvPr/>
        </p:nvSpPr>
        <p:spPr>
          <a:xfrm>
            <a:off x="5580112" y="371750"/>
            <a:ext cx="147418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Калининград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22713-87A6-269C-CFDC-0F2E423EC832}"/>
              </a:ext>
            </a:extLst>
          </p:cNvPr>
          <p:cNvSpPr txBox="1"/>
          <p:nvPr/>
        </p:nvSpPr>
        <p:spPr>
          <a:xfrm>
            <a:off x="1075027" y="414027"/>
            <a:ext cx="2268057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Ярославль, Кострома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E0D8CB-2DB6-1223-CF81-1333BC3E6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282" y="901854"/>
            <a:ext cx="3019846" cy="263879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311170-2D49-FFDD-34A8-4994FB725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02" y="901854"/>
            <a:ext cx="2200582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77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669D836-12FF-8843-AB60-9274D0DB9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0"/>
            <a:ext cx="7856935" cy="477209"/>
          </a:xfrm>
        </p:spPr>
        <p:txBody>
          <a:bodyPr/>
          <a:lstStyle/>
          <a:p>
            <a:pPr algn="ctr"/>
            <a:r>
              <a:rPr lang="en-US" sz="2400" cap="all" dirty="0"/>
              <a:t>ONKASPAR</a:t>
            </a:r>
            <a:r>
              <a:rPr lang="ru-RU" sz="2400" dirty="0"/>
              <a:t>. </a:t>
            </a:r>
            <a:r>
              <a:rPr lang="en-US" sz="2400" dirty="0"/>
              <a:t>Sales</a:t>
            </a:r>
            <a:r>
              <a:rPr lang="ru-RU" sz="2400" dirty="0"/>
              <a:t> </a:t>
            </a:r>
            <a:r>
              <a:rPr lang="en-US" sz="2400" dirty="0"/>
              <a:t>MDLP</a:t>
            </a:r>
            <a:r>
              <a:rPr lang="fr-FR" sz="2400" dirty="0"/>
              <a:t>. </a:t>
            </a:r>
            <a:r>
              <a:rPr lang="en-US" sz="2400" dirty="0"/>
              <a:t>Aug.26</a:t>
            </a:r>
            <a:r>
              <a:rPr lang="fr-FR" sz="2400" dirty="0"/>
              <a:t>. </a:t>
            </a:r>
            <a:r>
              <a:rPr lang="fr-FR" sz="2400" dirty="0" err="1"/>
              <a:t>Month</a:t>
            </a:r>
            <a:r>
              <a:rPr lang="fr-FR" sz="2400" dirty="0"/>
              <a:t>. </a:t>
            </a:r>
            <a:r>
              <a:rPr lang="fr-FR" sz="2400" dirty="0" err="1"/>
              <a:t>Units</a:t>
            </a:r>
            <a:r>
              <a:rPr lang="ru-RU" sz="2400" dirty="0"/>
              <a:t>.</a:t>
            </a:r>
            <a:endParaRPr lang="fr-FR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8B6E98-F2A5-75D8-FE4B-F8EA193DD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3721535"/>
            <a:ext cx="8390954" cy="809682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Комментарии: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На </a:t>
            </a:r>
            <a:r>
              <a:rPr lang="en-US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YTD </a:t>
            </a: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план отставание от цели на -10% (факт 123 </a:t>
            </a:r>
            <a:r>
              <a:rPr lang="ru-RU" sz="1200" dirty="0" err="1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фл</a:t>
            </a: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VS</a:t>
            </a: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 цель </a:t>
            </a:r>
            <a:r>
              <a:rPr lang="ru-RU" sz="1200" dirty="0" err="1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таргет</a:t>
            </a: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 136фл.)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Продажи за июль и август составили 9 </a:t>
            </a:r>
            <a:r>
              <a:rPr lang="ru-RU" sz="1200" dirty="0" err="1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фл</a:t>
            </a: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., ниже чем планировали, т.к. нет заявки по отыгранным аукционам в Вологде и Архангельске в связи со снижением </a:t>
            </a:r>
            <a:r>
              <a:rPr lang="ru-RU" sz="1200" dirty="0" err="1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пациентопотока</a:t>
            </a:r>
            <a:r>
              <a:rPr lang="ru-RU" sz="1200" dirty="0">
                <a:solidFill>
                  <a:srgbClr val="002060"/>
                </a:solidFill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200" dirty="0">
              <a:solidFill>
                <a:srgbClr val="002060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DD724-9EF6-3D7C-974C-934301F026F3}"/>
              </a:ext>
            </a:extLst>
          </p:cNvPr>
          <p:cNvSpPr txBox="1"/>
          <p:nvPr/>
        </p:nvSpPr>
        <p:spPr>
          <a:xfrm>
            <a:off x="899592" y="2182288"/>
            <a:ext cx="338554" cy="21544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6">
                    <a:lumMod val="10000"/>
                  </a:schemeClr>
                </a:solidFill>
              </a:rPr>
              <a:t>648</a:t>
            </a:r>
            <a:endParaRPr lang="ru-RU" sz="8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C9A01-C979-A6A7-A597-8A145A0761A3}"/>
              </a:ext>
            </a:extLst>
          </p:cNvPr>
          <p:cNvSpPr txBox="1"/>
          <p:nvPr/>
        </p:nvSpPr>
        <p:spPr>
          <a:xfrm rot="16200000">
            <a:off x="4261730" y="2051483"/>
            <a:ext cx="1561646" cy="261610"/>
          </a:xfrm>
          <a:prstGeom prst="rect">
            <a:avLst/>
          </a:prstGeom>
          <a:solidFill>
            <a:srgbClr val="E6E6E6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sz="1100" dirty="0">
                <a:solidFill>
                  <a:srgbClr val="FF0000"/>
                </a:solidFill>
              </a:rPr>
              <a:t>Субъекты территории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3613F-288A-E58D-279E-B7E703CDD3F8}"/>
              </a:ext>
            </a:extLst>
          </p:cNvPr>
          <p:cNvSpPr txBox="1"/>
          <p:nvPr/>
        </p:nvSpPr>
        <p:spPr>
          <a:xfrm>
            <a:off x="1706335" y="481884"/>
            <a:ext cx="1891865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Территория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total</a:t>
            </a:r>
            <a:endParaRPr lang="ru-RU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6F9D8B-D1EB-74BE-6E6F-E79EE342FA0D}"/>
              </a:ext>
            </a:extLst>
          </p:cNvPr>
          <p:cNvSpPr txBox="1"/>
          <p:nvPr/>
        </p:nvSpPr>
        <p:spPr>
          <a:xfrm>
            <a:off x="6156176" y="646486"/>
            <a:ext cx="1636987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По субъектам</a:t>
            </a:r>
          </a:p>
        </p:txBody>
      </p:sp>
      <p:pic>
        <p:nvPicPr>
          <p:cNvPr id="19" name="Total">
            <a:extLst>
              <a:ext uri="{FF2B5EF4-FFF2-40B4-BE49-F238E27FC236}">
                <a16:creationId xmlns:a16="http://schemas.microsoft.com/office/drawing/2014/main" id="{0C374CC7-1703-07A2-34AF-5A24232B0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863845"/>
            <a:ext cx="4277741" cy="282500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FDC0F2-E10E-51E8-D71A-597DC39EDA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285"/>
          <a:stretch>
            <a:fillRect/>
          </a:stretch>
        </p:blipFill>
        <p:spPr>
          <a:xfrm>
            <a:off x="5173358" y="1325147"/>
            <a:ext cx="3827752" cy="171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34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4A25534-A98C-4AAB-AD72-7C9E6DBDA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52" y="179661"/>
            <a:ext cx="7749779" cy="335784"/>
          </a:xfrm>
        </p:spPr>
        <p:txBody>
          <a:bodyPr/>
          <a:lstStyle/>
          <a:p>
            <a:pPr algn="ctr"/>
            <a:r>
              <a:rPr lang="en-US" sz="1800" cap="all" dirty="0"/>
              <a:t>ONKASPAR. Analysis . 25-26 FY.</a:t>
            </a:r>
            <a:endParaRPr lang="ru-RU" sz="1800" cap="al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471C5-9877-E6F7-59AF-69744C35EFB3}"/>
              </a:ext>
            </a:extLst>
          </p:cNvPr>
          <p:cNvSpPr txBox="1"/>
          <p:nvPr/>
        </p:nvSpPr>
        <p:spPr>
          <a:xfrm>
            <a:off x="117608" y="3900329"/>
            <a:ext cx="8640587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450"/>
              </a:spcBef>
            </a:pPr>
            <a:r>
              <a:rPr lang="ru-RU" sz="1000" dirty="0">
                <a:solidFill>
                  <a:srgbClr val="242269"/>
                </a:solidFill>
                <a:latin typeface="Century Gothic" panose="020B0502020202020204" pitchFamily="34" charset="0"/>
              </a:rPr>
              <a:t>Комментарии:: </a:t>
            </a:r>
          </a:p>
          <a:p>
            <a:pPr defTabSz="685800">
              <a:spcBef>
                <a:spcPts val="450"/>
              </a:spcBef>
            </a:pPr>
            <a:r>
              <a:rPr lang="ru-RU" sz="1000" dirty="0">
                <a:solidFill>
                  <a:srgbClr val="242269"/>
                </a:solidFill>
                <a:latin typeface="Century Gothic" panose="020B0502020202020204" pitchFamily="34" charset="0"/>
              </a:rPr>
              <a:t>В июле отгружены 3фл. во Владимир и 1фл по отыгранному аукциону в Вологду</a:t>
            </a:r>
          </a:p>
          <a:p>
            <a:pPr defTabSz="685800">
              <a:spcBef>
                <a:spcPts val="450"/>
              </a:spcBef>
            </a:pPr>
            <a:r>
              <a:rPr lang="ru-RU" sz="1000" dirty="0">
                <a:solidFill>
                  <a:srgbClr val="242269"/>
                </a:solidFill>
                <a:latin typeface="Century Gothic" panose="020B0502020202020204" pitchFamily="34" charset="0"/>
              </a:rPr>
              <a:t>В августе зачтены 5фл. в Череповец, которые были поставлены в июле. 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598FCF5-DB1E-488C-85CF-20485160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891922"/>
              </p:ext>
            </p:extLst>
          </p:nvPr>
        </p:nvGraphicFramePr>
        <p:xfrm>
          <a:off x="95083" y="627534"/>
          <a:ext cx="8953834" cy="3272795"/>
        </p:xfrm>
        <a:graphic>
          <a:graphicData uri="http://schemas.openxmlformats.org/drawingml/2006/table">
            <a:tbl>
              <a:tblPr/>
              <a:tblGrid>
                <a:gridCol w="1099823">
                  <a:extLst>
                    <a:ext uri="{9D8B030D-6E8A-4147-A177-3AD203B41FA5}">
                      <a16:colId xmlns:a16="http://schemas.microsoft.com/office/drawing/2014/main" val="269281977"/>
                    </a:ext>
                  </a:extLst>
                </a:gridCol>
                <a:gridCol w="1338916">
                  <a:extLst>
                    <a:ext uri="{9D8B030D-6E8A-4147-A177-3AD203B41FA5}">
                      <a16:colId xmlns:a16="http://schemas.microsoft.com/office/drawing/2014/main" val="3182421746"/>
                    </a:ext>
                  </a:extLst>
                </a:gridCol>
                <a:gridCol w="1362824">
                  <a:extLst>
                    <a:ext uri="{9D8B030D-6E8A-4147-A177-3AD203B41FA5}">
                      <a16:colId xmlns:a16="http://schemas.microsoft.com/office/drawing/2014/main" val="2605472783"/>
                    </a:ext>
                  </a:extLst>
                </a:gridCol>
                <a:gridCol w="573820">
                  <a:extLst>
                    <a:ext uri="{9D8B030D-6E8A-4147-A177-3AD203B41FA5}">
                      <a16:colId xmlns:a16="http://schemas.microsoft.com/office/drawing/2014/main" val="1300970306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2421216588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3724119433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3575441151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407883520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4128501002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781768590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3387070322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1748952669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938754458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3707237620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1080593656"/>
                    </a:ext>
                  </a:extLst>
                </a:gridCol>
                <a:gridCol w="215183">
                  <a:extLst>
                    <a:ext uri="{9D8B030D-6E8A-4147-A177-3AD203B41FA5}">
                      <a16:colId xmlns:a16="http://schemas.microsoft.com/office/drawing/2014/main" val="2338789886"/>
                    </a:ext>
                  </a:extLst>
                </a:gridCol>
                <a:gridCol w="1996255">
                  <a:extLst>
                    <a:ext uri="{9D8B030D-6E8A-4147-A177-3AD203B41FA5}">
                      <a16:colId xmlns:a16="http://schemas.microsoft.com/office/drawing/2014/main" val="4166862011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Агрегатор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Поставщик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ЛПУ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Количество к поставке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Октябрь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Ноябрь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Декабрь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Январь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Февраль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Март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Апрель</a:t>
                      </a:r>
                      <a:br>
                        <a:rPr lang="ru-RU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Май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Июнь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Июль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Август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Сентябрь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Комментарии: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180016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Барион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Северо-запад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МОДКБ (Мурманск)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20972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Мастерфаст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Мастерфаст</a:t>
                      </a: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ЯОДКБ (Ярославль)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157798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(Вологда)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052208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Фармру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Фармру</a:t>
                      </a: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АОДКБ (Архангельск)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108248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Фармру</a:t>
                      </a: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Фармру</a:t>
                      </a: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АОДКБ (Архангельск)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Планируется отгрузить до конца 2026 – еще </a:t>
                      </a:r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 </a:t>
                      </a:r>
                      <a:r>
                        <a:rPr lang="ru-RU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фл</a:t>
                      </a:r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71070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Мастерфаст</a:t>
                      </a: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Мастерфаст</a:t>
                      </a: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(Владимир)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018319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ВОДКБ2 (Череповец)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701272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(Владимир)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21110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Барион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Барион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ДОБ (Калининград)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150127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(Владимир)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529107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(Владимир)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867457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Барион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Солекс (Иваново)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ИвОКБ (Иваново)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020269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(Владимир)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764224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(Владимир)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53103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(Владимир)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984002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 (Вологда)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Отгрузка по потребности, остаток </a:t>
                      </a:r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18 </a:t>
                      </a:r>
                      <a:r>
                        <a:rPr lang="ru-RU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фл</a:t>
                      </a:r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.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384812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Торговый дом БФ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ВОДКБ2 (Череповец)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356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00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BEA6-B211-6B90-4D71-304C383B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13C7717-BFF2-FB80-CB1B-7A38F6651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0"/>
            <a:ext cx="7856935" cy="679820"/>
          </a:xfrm>
        </p:spPr>
        <p:txBody>
          <a:bodyPr/>
          <a:lstStyle/>
          <a:p>
            <a:pPr algn="ctr"/>
            <a:r>
              <a:rPr lang="en-US" sz="2400" dirty="0" err="1"/>
              <a:t>Onivyde</a:t>
            </a:r>
            <a:r>
              <a:rPr lang="fr-FR" sz="2400" dirty="0"/>
              <a:t> sales. </a:t>
            </a:r>
            <a:r>
              <a:rPr lang="en-US" sz="2400" dirty="0"/>
              <a:t>Aug.26</a:t>
            </a:r>
            <a:r>
              <a:rPr lang="fr-FR" sz="2400" dirty="0"/>
              <a:t>. </a:t>
            </a:r>
            <a:r>
              <a:rPr lang="fr-FR" sz="2400" dirty="0" err="1"/>
              <a:t>Month</a:t>
            </a:r>
            <a:r>
              <a:rPr lang="fr-FR" sz="2400" dirty="0"/>
              <a:t>. </a:t>
            </a:r>
            <a:r>
              <a:rPr lang="fr-FR" sz="2400" dirty="0" err="1"/>
              <a:t>Units</a:t>
            </a:r>
            <a:r>
              <a:rPr lang="ru-RU" sz="2400" dirty="0"/>
              <a:t>.</a:t>
            </a:r>
            <a:endParaRPr lang="fr-F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1CD02-4A9D-3E41-1EC4-117E9B2EBE59}"/>
              </a:ext>
            </a:extLst>
          </p:cNvPr>
          <p:cNvSpPr txBox="1"/>
          <p:nvPr/>
        </p:nvSpPr>
        <p:spPr>
          <a:xfrm>
            <a:off x="1547664" y="646486"/>
            <a:ext cx="1891865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Территория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total</a:t>
            </a:r>
            <a:endParaRPr lang="ru-RU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A4F87E-32C0-1620-3760-C05B6F39D32A}"/>
              </a:ext>
            </a:extLst>
          </p:cNvPr>
          <p:cNvSpPr txBox="1"/>
          <p:nvPr/>
        </p:nvSpPr>
        <p:spPr>
          <a:xfrm>
            <a:off x="6156176" y="646486"/>
            <a:ext cx="1636987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По субъектам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D6218-826E-0BF3-7F33-5F6C27142CD0}"/>
              </a:ext>
            </a:extLst>
          </p:cNvPr>
          <p:cNvSpPr txBox="1"/>
          <p:nvPr/>
        </p:nvSpPr>
        <p:spPr>
          <a:xfrm>
            <a:off x="1880357" y="2164434"/>
            <a:ext cx="509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Продаж </a:t>
            </a:r>
            <a:r>
              <a:rPr lang="ru-RU" dirty="0" err="1"/>
              <a:t>онивайда</a:t>
            </a:r>
            <a:r>
              <a:rPr lang="ru-RU" dirty="0"/>
              <a:t> на территории не было</a:t>
            </a:r>
          </a:p>
        </p:txBody>
      </p:sp>
    </p:spTree>
    <p:extLst>
      <p:ext uri="{BB962C8B-B14F-4D97-AF65-F5344CB8AC3E}">
        <p14:creationId xmlns:p14="http://schemas.microsoft.com/office/powerpoint/2010/main" val="3844170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6188-86D6-49A5-E600-29D52CFC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6B295E-9261-91F4-5418-5784827A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544" y="6015152"/>
            <a:ext cx="308967" cy="273844"/>
          </a:xfrm>
        </p:spPr>
        <p:txBody>
          <a:bodyPr/>
          <a:lstStyle/>
          <a:p>
            <a:pPr defTabSz="685800"/>
            <a:fld id="{151E75B2-1F5F-104D-81CC-0E99E60AEADE}" type="slidenum">
              <a:rPr lang="fr-FR" sz="1200">
                <a:solidFill>
                  <a:srgbClr val="242269"/>
                </a:solidFill>
              </a:rPr>
              <a:pPr defTabSz="685800"/>
              <a:t>17</a:t>
            </a:fld>
            <a:endParaRPr lang="fr-FR" sz="1200">
              <a:solidFill>
                <a:srgbClr val="242269"/>
              </a:solidFill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68F24F9-B545-0ABF-7B2C-53D2AC02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10" y="27062"/>
            <a:ext cx="7749779" cy="584001"/>
          </a:xfrm>
        </p:spPr>
        <p:txBody>
          <a:bodyPr/>
          <a:lstStyle/>
          <a:p>
            <a:pPr algn="ctr"/>
            <a:r>
              <a:rPr lang="en-US" sz="1200" cap="all" dirty="0" err="1"/>
              <a:t>Onivyde</a:t>
            </a:r>
            <a:r>
              <a:rPr lang="en-US" sz="1200" cap="all" dirty="0"/>
              <a:t>. Analysis of purchases. 25-26 FY.</a:t>
            </a:r>
            <a:endParaRPr lang="ru-RU" sz="1200" cap="al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CAD524-8C34-6397-987A-08D893153314}"/>
              </a:ext>
            </a:extLst>
          </p:cNvPr>
          <p:cNvSpPr txBox="1"/>
          <p:nvPr/>
        </p:nvSpPr>
        <p:spPr>
          <a:xfrm>
            <a:off x="359717" y="915566"/>
            <a:ext cx="84245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 Твери организовать цепочку поставок БСС-&gt; ООО Синергия мед -&gt; ТОКОД не удается. Возражение главного врача по отсутствию бюджета преодолеть не удается. ДБ ООО Синергия мед пока не видит путей решения.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По Костроме продолжена работа БСС на уровне начмеда Хабарова в КООД. Договорились о поиске пациента на 1-ю линию терапии </a:t>
            </a:r>
            <a:r>
              <a:rPr lang="ru-RU" sz="1200" dirty="0" err="1"/>
              <a:t>онивайдом</a:t>
            </a:r>
            <a:r>
              <a:rPr lang="ru-RU" sz="1200" dirty="0"/>
              <a:t> с заведующим ХТО - Афанасьевым Михаилом Игоревичем. Контрольная встреча в июне.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 Архангельской области проведены переговоры РКАМ с КФ, от предложенных возмещения поездки на конференцию отказался. Интерес к Северодвинску вызван тем, что в </a:t>
            </a:r>
            <a:r>
              <a:rPr lang="ru-RU" sz="1200" dirty="0" err="1"/>
              <a:t>ЦАОПе</a:t>
            </a:r>
            <a:r>
              <a:rPr lang="ru-RU" sz="1200" dirty="0"/>
              <a:t> работает Нечаева М.Н. заведующая Центром амбулаторной онкологической помощи ГБУЗ АО "СГКБ №2 СМП". Поиск пациента осложняется т.к. нет бюджета на терапию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 Мурманской области рассчитываем на возможность использования бюджета РЛО. Проведены переговоры с С-З, ДБ готов поставлять </a:t>
            </a:r>
            <a:r>
              <a:rPr lang="ru-RU" sz="1200" dirty="0" err="1"/>
              <a:t>Онивайд</a:t>
            </a:r>
            <a:r>
              <a:rPr lang="ru-RU" sz="1200" dirty="0"/>
              <a:t>, предварительно в качестве агрегатора выбрали БСС. Сейчас взяли паузу, т.к. нет подходящих пациентов.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 Вологодской области сложная ситуация, смена руководства в онкодиспансере, со слов БСС сейчас практически ничего не закупается, все ждут изменения ситуации ближе к августу 2026</a:t>
            </a:r>
          </a:p>
          <a:p>
            <a:endParaRPr lang="ru-RU" sz="1200" dirty="0"/>
          </a:p>
          <a:p>
            <a:endParaRPr lang="ru-RU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CF0988-DDD1-3AD2-4A8C-D1A8C6F23ABC}"/>
              </a:ext>
            </a:extLst>
          </p:cNvPr>
          <p:cNvSpPr txBox="1"/>
          <p:nvPr/>
        </p:nvSpPr>
        <p:spPr>
          <a:xfrm>
            <a:off x="467544" y="472563"/>
            <a:ext cx="3528392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</a:rPr>
              <a:t>На конец августа ситуация не поменялась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173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BEA6-B211-6B90-4D71-304C383B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13C7717-BFF2-FB80-CB1B-7A38F6651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0"/>
            <a:ext cx="7856935" cy="679820"/>
          </a:xfrm>
        </p:spPr>
        <p:txBody>
          <a:bodyPr/>
          <a:lstStyle/>
          <a:p>
            <a:pPr algn="ctr"/>
            <a:r>
              <a:rPr lang="en-US" sz="2400" dirty="0" err="1"/>
              <a:t>Lonsurf</a:t>
            </a:r>
            <a:r>
              <a:rPr lang="fr-FR" sz="2400" dirty="0"/>
              <a:t> sales. Aug</a:t>
            </a:r>
            <a:r>
              <a:rPr lang="en-US" sz="2400" dirty="0"/>
              <a:t>.26</a:t>
            </a:r>
            <a:r>
              <a:rPr lang="fr-FR" sz="2400" dirty="0"/>
              <a:t>. </a:t>
            </a:r>
            <a:r>
              <a:rPr lang="fr-FR" sz="2400" dirty="0" err="1"/>
              <a:t>Month</a:t>
            </a:r>
            <a:r>
              <a:rPr lang="fr-FR" sz="2400" dirty="0"/>
              <a:t>. </a:t>
            </a:r>
            <a:r>
              <a:rPr lang="fr-FR" sz="2400" dirty="0" err="1"/>
              <a:t>Units</a:t>
            </a:r>
            <a:r>
              <a:rPr lang="ru-RU" sz="2400" dirty="0"/>
              <a:t>.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D6218-826E-0BF3-7F33-5F6C27142CD0}"/>
              </a:ext>
            </a:extLst>
          </p:cNvPr>
          <p:cNvSpPr txBox="1"/>
          <p:nvPr/>
        </p:nvSpPr>
        <p:spPr>
          <a:xfrm>
            <a:off x="323528" y="1851670"/>
            <a:ext cx="86409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Комментарии: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Твери закуплены 4 </a:t>
            </a:r>
            <a:r>
              <a:rPr lang="ru-RU" sz="1400" dirty="0" err="1"/>
              <a:t>уп</a:t>
            </a:r>
            <a:r>
              <a:rPr lang="ru-RU" sz="1400" dirty="0"/>
              <a:t> </a:t>
            </a:r>
            <a:r>
              <a:rPr lang="ru-RU" sz="1400" dirty="0" err="1"/>
              <a:t>Лонсурфа</a:t>
            </a:r>
            <a:r>
              <a:rPr lang="ru-RU" sz="1400" dirty="0"/>
              <a:t> под пациентку для старта терапии.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Мурманске в результате проведенных процедур (ВК и пр.) был объявлен аукцион на 36 </a:t>
            </a:r>
            <a:r>
              <a:rPr lang="ru-RU" sz="1400" dirty="0" err="1"/>
              <a:t>уп</a:t>
            </a:r>
            <a:r>
              <a:rPr lang="ru-RU" sz="1400" dirty="0"/>
              <a:t>. </a:t>
            </a:r>
            <a:r>
              <a:rPr lang="ru-RU" sz="1400" dirty="0" err="1"/>
              <a:t>Лонсурфа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Архангельске ведется работа по поиску пациентов, пока найден пациент в НАО. В </a:t>
            </a:r>
            <a:r>
              <a:rPr lang="ru-RU" sz="1400" dirty="0" err="1"/>
              <a:t>АКОДе</a:t>
            </a:r>
            <a:r>
              <a:rPr lang="ru-RU" sz="1400" dirty="0"/>
              <a:t> планируется участие в «Поморском онкологическом форуме» 20.11.26; пакет 400,00 + доклад </a:t>
            </a:r>
            <a:r>
              <a:rPr lang="ru-RU" sz="1400" dirty="0" err="1"/>
              <a:t>Чапко</a:t>
            </a:r>
            <a:r>
              <a:rPr lang="ru-RU" sz="1400" dirty="0"/>
              <a:t>. Глав. врач Левин ждет от ДБ предложений по компенсации  </a:t>
            </a:r>
            <a:r>
              <a:rPr lang="ru-RU" sz="1400" dirty="0" err="1"/>
              <a:t>Лонсурфа</a:t>
            </a:r>
            <a:r>
              <a:rPr lang="ru-RU" sz="1400" dirty="0"/>
              <a:t> и </a:t>
            </a:r>
            <a:r>
              <a:rPr lang="ru-RU" sz="1400" dirty="0" err="1"/>
              <a:t>Онивайда</a:t>
            </a:r>
            <a:r>
              <a:rPr lang="ru-RU" sz="1400" dirty="0"/>
              <a:t> т.к. бюджет РЛО использовать нельзя, только средства ЛПУ.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4912E55-747E-D6A8-392D-5273E5B93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009503"/>
              </p:ext>
            </p:extLst>
          </p:nvPr>
        </p:nvGraphicFramePr>
        <p:xfrm>
          <a:off x="302717" y="626120"/>
          <a:ext cx="8597943" cy="1225550"/>
        </p:xfrm>
        <a:graphic>
          <a:graphicData uri="http://schemas.openxmlformats.org/drawingml/2006/table">
            <a:tbl>
              <a:tblPr/>
              <a:tblGrid>
                <a:gridCol w="742193">
                  <a:extLst>
                    <a:ext uri="{9D8B030D-6E8A-4147-A177-3AD203B41FA5}">
                      <a16:colId xmlns:a16="http://schemas.microsoft.com/office/drawing/2014/main" val="269281977"/>
                    </a:ext>
                  </a:extLst>
                </a:gridCol>
                <a:gridCol w="730734">
                  <a:extLst>
                    <a:ext uri="{9D8B030D-6E8A-4147-A177-3AD203B41FA5}">
                      <a16:colId xmlns:a16="http://schemas.microsoft.com/office/drawing/2014/main" val="3182421746"/>
                    </a:ext>
                  </a:extLst>
                </a:gridCol>
                <a:gridCol w="1275798">
                  <a:extLst>
                    <a:ext uri="{9D8B030D-6E8A-4147-A177-3AD203B41FA5}">
                      <a16:colId xmlns:a16="http://schemas.microsoft.com/office/drawing/2014/main" val="260547278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78218408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9151481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300970306"/>
                    </a:ext>
                  </a:extLst>
                </a:gridCol>
                <a:gridCol w="195041">
                  <a:extLst>
                    <a:ext uri="{9D8B030D-6E8A-4147-A177-3AD203B41FA5}">
                      <a16:colId xmlns:a16="http://schemas.microsoft.com/office/drawing/2014/main" val="3724119433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3575441151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407883520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4128501002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781768590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3387070322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1748952669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938754458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3707237620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1080593656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2338789886"/>
                    </a:ext>
                  </a:extLst>
                </a:gridCol>
                <a:gridCol w="186515">
                  <a:extLst>
                    <a:ext uri="{9D8B030D-6E8A-4147-A177-3AD203B41FA5}">
                      <a16:colId xmlns:a16="http://schemas.microsoft.com/office/drawing/2014/main" val="2251096942"/>
                    </a:ext>
                  </a:extLst>
                </a:gridCol>
                <a:gridCol w="1730304">
                  <a:extLst>
                    <a:ext uri="{9D8B030D-6E8A-4147-A177-3AD203B41FA5}">
                      <a16:colId xmlns:a16="http://schemas.microsoft.com/office/drawing/2014/main" val="4166862011"/>
                    </a:ext>
                  </a:extLst>
                </a:gridCol>
              </a:tblGrid>
              <a:tr h="454025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Агрегатор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Поставщик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ЛПУ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Тип закупки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Дозировка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Количество к поставке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Август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Сентябрь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Октябрь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Ноябрь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Декабрь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Январь</a:t>
                      </a:r>
                      <a:b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Февраль 2027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Март 2027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Апрель 2027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Май 2027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Июнь 2027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Июль 2027</a:t>
                      </a:r>
                    </a:p>
                    <a:p>
                      <a:pPr algn="ctr" fontAlgn="ctr">
                        <a:buNone/>
                      </a:pPr>
                      <a:endParaRPr lang="ru-RU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Комментарии: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180016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Р-фарм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Р-фарм 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КООД (Тверь)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Разовый договор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20972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Р-фарм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Р-фарм 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КООД (Тверь)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Разовый договор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157798"/>
                  </a:ext>
                </a:extLst>
              </a:tr>
              <a:tr h="1513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Ланцет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Ланцет 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ООД (Мурманск)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Аукцион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052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20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BEA6-B211-6B90-4D71-304C383B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13C7717-BFF2-FB80-CB1B-7A38F6651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0"/>
            <a:ext cx="7856935" cy="679820"/>
          </a:xfrm>
        </p:spPr>
        <p:txBody>
          <a:bodyPr/>
          <a:lstStyle/>
          <a:p>
            <a:pPr algn="ctr"/>
            <a:r>
              <a:rPr lang="en-US" sz="2400" dirty="0" err="1"/>
              <a:t>Tibsovo</a:t>
            </a:r>
            <a:r>
              <a:rPr lang="en-US" sz="2400" dirty="0"/>
              <a:t> </a:t>
            </a:r>
            <a:r>
              <a:rPr lang="fr-FR" sz="2400" dirty="0"/>
              <a:t>sales. </a:t>
            </a:r>
            <a:r>
              <a:rPr lang="en-US" sz="2400" dirty="0"/>
              <a:t>Aug.26</a:t>
            </a:r>
            <a:r>
              <a:rPr lang="fr-FR" sz="2400" dirty="0"/>
              <a:t>. </a:t>
            </a:r>
            <a:r>
              <a:rPr lang="fr-FR" sz="2400" dirty="0" err="1"/>
              <a:t>Month</a:t>
            </a:r>
            <a:r>
              <a:rPr lang="fr-FR" sz="2400" dirty="0"/>
              <a:t>. </a:t>
            </a:r>
            <a:r>
              <a:rPr lang="fr-FR" sz="2400" dirty="0" err="1"/>
              <a:t>Units</a:t>
            </a:r>
            <a:r>
              <a:rPr lang="ru-RU" sz="2400" dirty="0"/>
              <a:t>.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D6218-826E-0BF3-7F33-5F6C27142CD0}"/>
              </a:ext>
            </a:extLst>
          </p:cNvPr>
          <p:cNvSpPr txBox="1"/>
          <p:nvPr/>
        </p:nvSpPr>
        <p:spPr>
          <a:xfrm>
            <a:off x="395536" y="555526"/>
            <a:ext cx="86409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Комментарии:</a:t>
            </a:r>
            <a:endParaRPr lang="en-US" sz="1400" dirty="0"/>
          </a:p>
          <a:p>
            <a:r>
              <a:rPr lang="ru-RU" sz="1400" dirty="0"/>
              <a:t>По ситуации в Мурманске:</a:t>
            </a:r>
          </a:p>
          <a:p>
            <a:pPr marL="342900" indent="-342900">
              <a:buAutoNum type="arabicPeriod"/>
            </a:pPr>
            <a:r>
              <a:rPr lang="ru-RU" sz="1400" dirty="0"/>
              <a:t>Пациентка - кандидат на </a:t>
            </a:r>
            <a:r>
              <a:rPr lang="ru-RU" sz="1400" dirty="0" err="1"/>
              <a:t>Тибсово</a:t>
            </a:r>
            <a:r>
              <a:rPr lang="ru-RU" sz="1400" dirty="0"/>
              <a:t> с ОМЛ офф-лейбл в Мурманске сошла: не подтвердилась </a:t>
            </a:r>
            <a:r>
              <a:rPr lang="en-US" sz="1400" dirty="0"/>
              <a:t>IDH-</a:t>
            </a:r>
            <a:r>
              <a:rPr lang="ru-RU" sz="1400" dirty="0"/>
              <a:t>мутация при повторном анализе.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ru-RU" sz="1400" dirty="0"/>
              <a:t>Пациент с ХК в Мурманске ( кандидат на терапию </a:t>
            </a:r>
            <a:r>
              <a:rPr lang="ru-RU" sz="1400" dirty="0" err="1"/>
              <a:t>Тибсово</a:t>
            </a:r>
            <a:r>
              <a:rPr lang="ru-RU" sz="1400" dirty="0"/>
              <a:t>.) На врачебной комиссии было принято решение- повторное направление пациента на ТМК ( телемедицинская консультация) и отправили повторно на очную консультацию к хирургу в НИИ Петрова. В первоначальном ТМК- было рекомендована терапия </a:t>
            </a:r>
            <a:r>
              <a:rPr lang="ru-RU" sz="1400" dirty="0" err="1"/>
              <a:t>ивосиденибом</a:t>
            </a:r>
            <a:r>
              <a:rPr lang="ru-RU" sz="1400" dirty="0"/>
              <a:t> в случае прогрессирования и так же рекомендована очная консультация пациентом у хирурга в НИИ Петрова. Пациент был в НИИ Петрова но не получил письменного заключения от хирурга. Рост опухоли на сегодня 14 процентов, что пока говорит о стабилизации. Поэтому пациенту рекомендовали получить письменное заключение- вновь доехать до НИИ Петрова на консультацию к хирургу. А так же решили повторно отправить ТМК- что б исключить или подтвердить необходимость хирургического вмешательства. Пакет документов -ВК и ходатайство направляется в МЗ . Далее рассматривается в МЗ и ЛПУ только получает ответ- обеспечат или нет. Заявка на 2027 год уже пишется сейчас.</a:t>
            </a:r>
          </a:p>
        </p:txBody>
      </p:sp>
    </p:spTree>
    <p:extLst>
      <p:ext uri="{BB962C8B-B14F-4D97-AF65-F5344CB8AC3E}">
        <p14:creationId xmlns:p14="http://schemas.microsoft.com/office/powerpoint/2010/main" val="2421794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6"/>
          <p:cNvSpPr>
            <a:spLocks noGrp="1"/>
          </p:cNvSpPr>
          <p:nvPr>
            <p:ph type="ctrTitle"/>
          </p:nvPr>
        </p:nvSpPr>
        <p:spPr>
          <a:xfrm>
            <a:off x="1859421" y="89119"/>
            <a:ext cx="5137126" cy="540802"/>
          </a:xfrm>
        </p:spPr>
        <p:txBody>
          <a:bodyPr>
            <a:normAutofit/>
          </a:bodyPr>
          <a:lstStyle/>
          <a:p>
            <a:r>
              <a:rPr lang="fr-FR" sz="2400" dirty="0"/>
              <a:t>Activity. May 26 </a:t>
            </a:r>
            <a:r>
              <a:rPr lang="fr-FR" sz="2400" dirty="0" err="1"/>
              <a:t>Month</a:t>
            </a:r>
            <a:r>
              <a:rPr lang="fr-FR" sz="2400" dirty="0"/>
              <a:t>.</a:t>
            </a:r>
            <a:r>
              <a:rPr lang="ru-RU" sz="2400" dirty="0"/>
              <a:t> 2</a:t>
            </a:r>
            <a:r>
              <a:rPr lang="en-US" sz="2400" dirty="0"/>
              <a:t>5</a:t>
            </a:r>
            <a:r>
              <a:rPr lang="ru-RU" sz="2400" dirty="0"/>
              <a:t>-2</a:t>
            </a:r>
            <a:r>
              <a:rPr lang="en-US" sz="2400" dirty="0"/>
              <a:t>6 FY.</a:t>
            </a:r>
            <a:r>
              <a:rPr lang="ru-RU" sz="2400" dirty="0"/>
              <a:t> 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type="subTitle" idx="1"/>
          </p:nvPr>
        </p:nvSpPr>
        <p:spPr>
          <a:xfrm>
            <a:off x="179512" y="629921"/>
            <a:ext cx="9001000" cy="27363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>
                <a:solidFill>
                  <a:srgbClr val="002060"/>
                </a:solidFill>
              </a:rPr>
              <a:t>Активность за прошедший месяц:</a:t>
            </a:r>
          </a:p>
          <a:p>
            <a:endParaRPr lang="ru-RU" sz="1000" dirty="0">
              <a:solidFill>
                <a:srgbClr val="002060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Activity">
            <a:extLst>
              <a:ext uri="{FF2B5EF4-FFF2-40B4-BE49-F238E27FC236}">
                <a16:creationId xmlns:a16="http://schemas.microsoft.com/office/drawing/2014/main" id="{D2DDA05E-728D-913E-A83F-D7F580238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59583"/>
            <a:ext cx="1791385" cy="3384376"/>
          </a:xfrm>
          <a:prstGeom prst="rect">
            <a:avLst/>
          </a:prstGeom>
        </p:spPr>
      </p:pic>
      <p:pic>
        <p:nvPicPr>
          <p:cNvPr id="6" name="Worktime">
            <a:extLst>
              <a:ext uri="{FF2B5EF4-FFF2-40B4-BE49-F238E27FC236}">
                <a16:creationId xmlns:a16="http://schemas.microsoft.com/office/drawing/2014/main" id="{E907105C-A655-4715-E2BF-A97652FE2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921" y="1082404"/>
            <a:ext cx="5049375" cy="33387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DDF1E4-F6E7-2C91-D0AA-03E28B5203CC}"/>
              </a:ext>
            </a:extLst>
          </p:cNvPr>
          <p:cNvSpPr txBox="1"/>
          <p:nvPr/>
        </p:nvSpPr>
        <p:spPr>
          <a:xfrm>
            <a:off x="395536" y="4607569"/>
            <a:ext cx="6984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2060"/>
                </a:solidFill>
              </a:rPr>
              <a:t>Активность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ru-RU" sz="1400" dirty="0">
                <a:solidFill>
                  <a:srgbClr val="002060"/>
                </a:solidFill>
              </a:rPr>
              <a:t>внесена полностью, в отчете пока не отражается, т.к. не обновилась на сервере после синхронизации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1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7551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SERVIER">
      <a:dk1>
        <a:srgbClr val="91C361"/>
      </a:dk1>
      <a:lt1>
        <a:srgbClr val="FFFFFF"/>
      </a:lt1>
      <a:dk2>
        <a:srgbClr val="47BFD9"/>
      </a:dk2>
      <a:lt2>
        <a:srgbClr val="E7E6E6"/>
      </a:lt2>
      <a:accent1>
        <a:srgbClr val="242269"/>
      </a:accent1>
      <a:accent2>
        <a:srgbClr val="F55B41"/>
      </a:accent2>
      <a:accent3>
        <a:srgbClr val="323C8E"/>
      </a:accent3>
      <a:accent4>
        <a:srgbClr val="9B7DCD"/>
      </a:accent4>
      <a:accent5>
        <a:srgbClr val="FDC300"/>
      </a:accent5>
      <a:accent6>
        <a:srgbClr val="D3DEF2"/>
      </a:accent6>
      <a:hlink>
        <a:srgbClr val="47BFD9"/>
      </a:hlink>
      <a:folHlink>
        <a:srgbClr val="91C36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lIns="360000" tIns="756000" rIns="648000" bIns="0" rtlCol="0" anchor="t" anchorCtr="0"/>
      <a:lstStyle>
        <a:defPPr algn="l">
          <a:lnSpc>
            <a:spcPts val="2200"/>
          </a:lnSpc>
          <a:defRPr sz="1600" b="1" i="0" dirty="0" err="1" smtClean="0">
            <a:latin typeface="Century Gothic" panose="020B0502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Шаблон презентации Сервье 2022  -  только для чтения" id="{72F4B837-E19C-4144-840B-5F30E6369512}" vid="{1187D890-3E5E-4FDC-A4B5-C98B19210C19}"/>
    </a:ext>
  </a:extLst>
</a:theme>
</file>

<file path=ppt/theme/theme2.xml><?xml version="1.0" encoding="utf-8"?>
<a:theme xmlns:a="http://schemas.openxmlformats.org/drawingml/2006/main" name="1_Thème Office">
  <a:themeElements>
    <a:clrScheme name="SERVIER_PPT">
      <a:dk1>
        <a:srgbClr val="242269"/>
      </a:dk1>
      <a:lt1>
        <a:srgbClr val="FFFFFF"/>
      </a:lt1>
      <a:dk2>
        <a:srgbClr val="91C361"/>
      </a:dk2>
      <a:lt2>
        <a:srgbClr val="E7E6E6"/>
      </a:lt2>
      <a:accent1>
        <a:srgbClr val="242269"/>
      </a:accent1>
      <a:accent2>
        <a:srgbClr val="F55B41"/>
      </a:accent2>
      <a:accent3>
        <a:srgbClr val="323C8E"/>
      </a:accent3>
      <a:accent4>
        <a:srgbClr val="9B7DCD"/>
      </a:accent4>
      <a:accent5>
        <a:srgbClr val="FDC300"/>
      </a:accent5>
      <a:accent6>
        <a:srgbClr val="D3DEF2"/>
      </a:accent6>
      <a:hlink>
        <a:srgbClr val="47BFD9"/>
      </a:hlink>
      <a:folHlink>
        <a:srgbClr val="91C36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lIns="360000" tIns="108000" rIns="360000" bIns="0" rtlCol="0" anchor="t" anchorCtr="0"/>
      <a:lstStyle>
        <a:defPPr algn="l">
          <a:lnSpc>
            <a:spcPct val="100000"/>
          </a:lnSpc>
          <a:defRPr sz="1600" b="1" i="0" dirty="0" err="1" smtClean="0">
            <a:latin typeface="Century Gothic" panose="020B0502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Шаблон презентации Сервье 2022" id="{DD6D195E-2CD1-46DE-9A84-515BB3268B92}" vid="{72E49FA5-2010-4ADE-B862-566802376A2B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514f150-a902-48cd-9524-18507e65dc42">SRUS14-599-770</_dlc_DocId>
    <_dlc_DocIdUrl xmlns="8514f150-a902-48cd-9524-18507e65dc42">
      <Url>http://ru1connect.int.grs.net/PR/_layouts/15/DocIdRedir.aspx?ID=SRUS14-599-770</Url>
      <Description>SRUS14-599-770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B851F055DD46EC4EB262A591DF5F06D9" ma:contentTypeVersion="1" ma:contentTypeDescription="Создание документа." ma:contentTypeScope="" ma:versionID="e9f127c7cdea45d3e0cfb768e1b00d73">
  <xsd:schema xmlns:xsd="http://www.w3.org/2001/XMLSchema" xmlns:xs="http://www.w3.org/2001/XMLSchema" xmlns:p="http://schemas.microsoft.com/office/2006/metadata/properties" xmlns:ns2="8514f150-a902-48cd-9524-18507e65dc42" targetNamespace="http://schemas.microsoft.com/office/2006/metadata/properties" ma:root="true" ma:fieldsID="d745bb422e7cc3524af8999f9f36001e" ns2:_="">
    <xsd:import namespace="8514f150-a902-48cd-9524-18507e65dc4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4f150-a902-48cd-9524-18507e65dc4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Значение идентификатора документа" ma:description="Значение идентификатора документа, присвоенного данному элементу." ma:internalName="_dlc_DocId" ma:readOnly="true">
      <xsd:simpleType>
        <xsd:restriction base="dms:Text"/>
      </xsd:simpleType>
    </xsd:element>
    <xsd:element name="_dlc_DocIdUrl" ma:index="9" nillable="true" ma:displayName="Идентификатор документа" ma:description="Постоянная ссылка на этот документ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9E657B-DA5E-4FDC-A142-712EF04D1BA5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514f150-a902-48cd-9524-18507e65dc4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8439BB-E2FE-434E-8D6D-C949EC7947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4f150-a902-48cd-9524-18507e65dc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92ACBA-90D3-41FE-9517-FAF7F2A8912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7EA6112-9D8F-4FEC-8E24-806D0AEC58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style guide 2018</Template>
  <TotalTime>131781</TotalTime>
  <Words>4101</Words>
  <Application>Microsoft Office PowerPoint</Application>
  <PresentationFormat>Экран (16:9)</PresentationFormat>
  <Paragraphs>524</Paragraphs>
  <Slides>21</Slides>
  <Notes>17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Calibri</vt:lpstr>
      <vt:lpstr>Century Gothic</vt:lpstr>
      <vt:lpstr>Garamond</vt:lpstr>
      <vt:lpstr>Police système</vt:lpstr>
      <vt:lpstr>Roboto</vt:lpstr>
      <vt:lpstr>Thème Office</vt:lpstr>
      <vt:lpstr>1_Thème Office</vt:lpstr>
      <vt:lpstr>Слайд think-cell</vt:lpstr>
      <vt:lpstr>Отчет за месяц   АВГУСТ 2026</vt:lpstr>
      <vt:lpstr>Региональные новости</vt:lpstr>
      <vt:lpstr>Региональные новости Онкология</vt:lpstr>
      <vt:lpstr>Ключевые выводы</vt:lpstr>
      <vt:lpstr> CMVD market trends. CNT-N, RUB, Month.   </vt:lpstr>
      <vt:lpstr> CMVD market trends. NWR-N RUB, Month.   </vt:lpstr>
      <vt:lpstr> MDLP, Total sales June and July 26. Month, RUB. </vt:lpstr>
      <vt:lpstr> MDLP, Total sales June and July 26. Month, RUB. </vt:lpstr>
      <vt:lpstr>MDLP sales buy products. July.26,Montn, Units.</vt:lpstr>
      <vt:lpstr> MDLP sales buy products. July, Montn, Units. </vt:lpstr>
      <vt:lpstr>Distributors`TOP5 analysis. Secondary sales. Month. RUB.  </vt:lpstr>
      <vt:lpstr>Trends of  markup  ТОР5 Distributors.  </vt:lpstr>
      <vt:lpstr>Презентация PowerPoint</vt:lpstr>
      <vt:lpstr>ONKASPAR. Sales MDLP. Aug.26. Month. Units.</vt:lpstr>
      <vt:lpstr>ONKASPAR. Analysis . 25-26 FY.</vt:lpstr>
      <vt:lpstr>Onivyde sales. Aug.26. Month. Units.</vt:lpstr>
      <vt:lpstr>Onivyde. Analysis of purchases. 25-26 FY.</vt:lpstr>
      <vt:lpstr>Lonsurf sales. Aug.26. Month. Units.</vt:lpstr>
      <vt:lpstr>Tibsovo sales. Aug.26. Month. Units.</vt:lpstr>
      <vt:lpstr>Activity. May 26 Month. 25-26 FY. </vt:lpstr>
      <vt:lpstr>Презентация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</dc:creator>
  <cp:lastModifiedBy>Pavel BORISOV</cp:lastModifiedBy>
  <cp:revision>983</cp:revision>
  <cp:lastPrinted>2020-01-16T12:12:14Z</cp:lastPrinted>
  <dcterms:created xsi:type="dcterms:W3CDTF">2018-08-22T12:53:17Z</dcterms:created>
  <dcterms:modified xsi:type="dcterms:W3CDTF">2026-09-02T07:02:45Z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0x010100B851F055DD46EC4EB262A591DF5F06D9</vt:lpwstr>
  </property>
  <property fmtid="{D5CDD505-2E9C-101B-9397-08002B2CF9AE}" pid="3" name="_dlc_DocIdItemGuid">
    <vt:lpwstr>3790b47e-021c-4b20-86fb-93cf0ab864d4</vt:lpwstr>
  </property>
</Properties>
</file>